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A71E0-B9E8-444C-858E-B60F5CC5E382}" type="datetimeFigureOut">
              <a:rPr lang="en-US" smtClean="0"/>
              <a:t>07/10/2026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61FF14-2CC6-45F3-BD61-F7778D95E3EE}" type="slidenum">
              <a:rPr lang="en-US" smtClean="0"/>
              <a:t>‹#›</a:t>
            </a:fld>
            <a:endParaRPr lang="en-US"/>
          </a:p>
        </p:txBody>
      </p:sp>
    </p:spTree>
    <p:extLst>
      <p:ext uri="{BB962C8B-B14F-4D97-AF65-F5344CB8AC3E}">
        <p14:creationId xmlns:p14="http://schemas.microsoft.com/office/powerpoint/2010/main" val="3578309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35-45 seconds.
Opening: CareLink Follow-Up helps clinic staff identify patients who missed appointments and coordinate outreach. I approached it as both a working vertical slice and a production architecture problem because the national context includes weak connectivity, older computers and sensitive health data.
Transition: I will start with the rule I implemented, then follow the data from a clinic through the proposed national system.</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1</a:t>
            </a:fld>
            <a:endParaRPr lang="en-US"/>
          </a:p>
        </p:txBody>
      </p:sp>
    </p:spTree>
    <p:extLst>
      <p:ext uri="{BB962C8B-B14F-4D97-AF65-F5344CB8AC3E}">
        <p14:creationId xmlns:p14="http://schemas.microsoft.com/office/powerpoint/2010/main" val="2487018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55-65 seconds.
The brief leaves the threshold boundary open. I interpreted "more than seven days" literally. Exactly seven days late remains missed; the patient enters the overdue queue on day eight.
I select the most recent visit for each patient. If a patient later attends, that later visit becomes the current truth, so an older missed appointment disappears from the actionable queue.
Likely question: Why compare calendar dates? Staff reason about appointment days, and calendar comparisons avoid time-of-day and timezone surprises.</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2</a:t>
            </a:fld>
            <a:endParaRPr lang="en-US"/>
          </a:p>
        </p:txBody>
      </p:sp>
    </p:spTree>
    <p:extLst>
      <p:ext uri="{BB962C8B-B14F-4D97-AF65-F5344CB8AC3E}">
        <p14:creationId xmlns:p14="http://schemas.microsoft.com/office/powerpoint/2010/main" val="1900375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80-95 seconds.
At a facility, the client reads a minimum encrypted local dataset and stores offline actions in a durable queue. When connectivity returns, it sends small idempotent batches over HTTPS.
Nationally, I propose a modular monolith. This team can deploy and operate one application while keeping follow-up, identity, synchronisation and integrations separated internally. The national relational database is authoritative after validation and conflict handling.
Laboratory and reporting exchange happens asynchronously so partner downtime does not stop a clinician saving work.
Least certain decision: how much clinical data each facility should cache. I would use outage measurements, privacy policy, device capacity and a rural pilot before fixing the retention window.</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3</a:t>
            </a:fld>
            <a:endParaRPr lang="en-US"/>
          </a:p>
        </p:txBody>
      </p:sp>
    </p:spTree>
    <p:extLst>
      <p:ext uri="{BB962C8B-B14F-4D97-AF65-F5344CB8AC3E}">
        <p14:creationId xmlns:p14="http://schemas.microsoft.com/office/powerpoint/2010/main" val="2230331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75-90 seconds plus a short live demonstration.
I built both required halves. The React component owns view state, while followUpApi.ts owns HTTP details. The API applies the follow-up rule, status filter, sorting and pagination in SQLite.
Demo order:
1. Swagger at localhost:5214 and confirm carelink.db.
2. Authorize using manager-demo-token.
3. Run overdue_days=7, then explain why an item eight days late appears.
4. Open the React page and switch access profile.
5. If time permits, stop the API briefly to show error and retry, then restart it.
Do not browse the volume database live unless asked; cite the recorded result instead.</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4</a:t>
            </a:fld>
            <a:endParaRPr lang="en-US"/>
          </a:p>
        </p:txBody>
      </p:sp>
    </p:spTree>
    <p:extLst>
      <p:ext uri="{BB962C8B-B14F-4D97-AF65-F5344CB8AC3E}">
        <p14:creationId xmlns:p14="http://schemas.microsoft.com/office/powerpoint/2010/main" val="655392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65-75 seconds.
These are trade-offs rather than universal rules. Microservices could scale independently, but the team would pay distributed-system and deployment costs immediately. Online-only would simplify the client, but roughly 1,100 facilities have unreliable or absent connectivity.
For the assessment, SQLite is a deliberate portable relational database, not the proposed national database. It supports the required migration, constraints, indexes and measured dataset without making the panel install Docker.
Likely question: Why backend pagination? The UI cannot protect the server or data by hiding controls. The API must reduce the query and response before records cross the network.</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5</a:t>
            </a:fld>
            <a:endParaRPr lang="en-US"/>
          </a:p>
        </p:txBody>
      </p:sp>
    </p:spTree>
    <p:extLst>
      <p:ext uri="{BB962C8B-B14F-4D97-AF65-F5344CB8AC3E}">
        <p14:creationId xmlns:p14="http://schemas.microsoft.com/office/powerpoint/2010/main" val="732798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55-65 seconds.
I ranked issues by clinic consequence, not style. The first backend extract includes a privileged credential and constructs SQL from user input. It also trusts caller-supplied facility and role values.
The encounter save uses two writes without a transaction and catches every exception. That can leave partial data or make a failed save appear successful.
I refactored the backend extract because those failures affect confidentiality and clinical integrity. The refactor uses parameterised SQL, current-user claims, deterministic disposal, a transaction and safe logging.
Frontend merge blockers included uncontrolled polling, request races and mark-contacted showing success before server acknowledgement.</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6</a:t>
            </a:fld>
            <a:endParaRPr lang="en-US"/>
          </a:p>
        </p:txBody>
      </p:sp>
    </p:spTree>
    <p:extLst>
      <p:ext uri="{BB962C8B-B14F-4D97-AF65-F5344CB8AC3E}">
        <p14:creationId xmlns:p14="http://schemas.microsoft.com/office/powerpoint/2010/main" val="949215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65-75 seconds.
Scenario: a clinic records visits while offline. Connectivity returns, an upload times out halfway through and the client replays the batch.
The client creates one operation ID before the first attempt and keeps it with the request. The server stores that key and result in the same transaction as the visit. A replay returns the original result rather than creating another visit.
An idempotency key does not detect two separately created patients. Existing duplicate identities require candidate matching and authorised human review. We preserve identifiers and audit history rather than casually deleting clinical rows.
For Monday-versus-Tuesday edits, the offline write includes its base version. A mismatch creates a review task; clinical governance decides the truth.</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7</a:t>
            </a:fld>
            <a:endParaRPr lang="en-US"/>
          </a:p>
        </p:txBody>
      </p:sp>
    </p:spTree>
    <p:extLst>
      <p:ext uri="{BB962C8B-B14F-4D97-AF65-F5344CB8AC3E}">
        <p14:creationId xmlns:p14="http://schemas.microsoft.com/office/powerpoint/2010/main" val="2850339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Timing: 40-50 seconds.
The scale seeder generated the assessment volume. For FAC-0101 the endpoint returned a 50-row page from 222 matches. On my development laptop, ten warm requests had a 35 millisecond median; this is evidence, not a production service-level promise.
All eleven backend and four frontend tests pass.
I have been explicit about what is not implemented. With another week, I would add the contacted write using idempotency and role enforcement, test against a production-target database under concurrent load, and complete the assistive-technology matrix.
Closing: The strongest part of the solution is that the rule, access boundary and scale behaviour are executable and tested. The weakest uncertainty is offline data retention, which needs field evidence and clinical/security agreement.</a:t>
            </a:r>
            <a:endParaRPr lang="en-US"/>
          </a:p>
        </p:txBody>
      </p:sp>
      <p:sp>
        <p:nvSpPr>
          <p:cNvPr id="4" name="Slide Number Placeholder 3"/>
          <p:cNvSpPr>
            <a:spLocks noGrp="1"/>
          </p:cNvSpPr>
          <p:nvPr>
            <p:ph type="sldNum" sz="quarter" idx="5"/>
          </p:nvPr>
        </p:nvSpPr>
        <p:spPr/>
        <p:txBody>
          <a:bodyPr/>
          <a:lstStyle/>
          <a:p>
            <a:fld id="{2C61FF14-2CC6-45F3-BD61-F7778D95E3EE}" type="slidenum">
              <a:rPr lang="en-US" smtClean="0"/>
              <a:t>8</a:t>
            </a:fld>
            <a:endParaRPr lang="en-US"/>
          </a:p>
        </p:txBody>
      </p:sp>
    </p:spTree>
    <p:extLst>
      <p:ext uri="{BB962C8B-B14F-4D97-AF65-F5344CB8AC3E}">
        <p14:creationId xmlns:p14="http://schemas.microsoft.com/office/powerpoint/2010/main" val="149839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E8AA-AAEC-75AC-32CD-7DB3C2379E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CEC0F7-91B6-171C-C6AF-FB6DF5224A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800178-8B99-E57C-A78F-3154DED614B6}"/>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C372B669-6326-EBA9-665A-A41DC6E34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70E1C-88A6-AEA0-83F3-949E68CDC54C}"/>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1069256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BA591-B5C7-839B-2947-5EBA916E8C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15EA03-54BC-C4E4-AD83-9D71D73801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50DB80-D8E1-55E6-ECBF-90C2AE963C18}"/>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0B6B1B34-94D0-72F8-7D83-7F8CD14FCD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61C6-3176-C2A0-4650-E68610F29D3C}"/>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3802743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07C83-C506-2C5C-747C-A549E175DD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5497CF-FC39-1908-2747-5AF9CDEC26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834DC2-ED95-5C61-34FD-B039301D1680}"/>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5CEE8D44-4EBE-1A8E-69E2-F7DFF5BF5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32CAE7-F253-812F-104E-4B03A933B810}"/>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2893874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91807-FCB3-4832-C2BF-F7690903FC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499331-8FB6-317B-D406-401F3BDC31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D7F6F6-E701-0A63-8793-B66FA289F0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728E10-82B9-655E-A746-870A9D976C16}"/>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6" name="Footer Placeholder 5">
            <a:extLst>
              <a:ext uri="{FF2B5EF4-FFF2-40B4-BE49-F238E27FC236}">
                <a16:creationId xmlns:a16="http://schemas.microsoft.com/office/drawing/2014/main" id="{4D65D88E-AE7E-8134-BF7B-0172BF5506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0550D2-EB31-FD83-ADD0-7E568FB0E2A7}"/>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3403861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4933-D0DA-C18B-CEAC-55323A333F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3E3A8A-2B84-9B8E-B534-9B27FCCA11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C410A7-B6D9-FEA9-7FA4-CE64FC6872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A1EC82-337F-84B7-8B0A-9E7AFBC519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7DAC7B-B30A-204C-E953-9BEBE7FC99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7265C1-32AD-3BEB-3CA0-531989E431E9}"/>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8" name="Footer Placeholder 7">
            <a:extLst>
              <a:ext uri="{FF2B5EF4-FFF2-40B4-BE49-F238E27FC236}">
                <a16:creationId xmlns:a16="http://schemas.microsoft.com/office/drawing/2014/main" id="{DC46C497-250E-35F0-4B88-272C26F66F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3A5749-2EB1-FAF8-1C41-A1669B66A21B}"/>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1075251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63B6C-823D-7D39-B449-3B383F2F2B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CF1652-B14F-FCDF-E2E6-B92912FB5AF1}"/>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4" name="Footer Placeholder 3">
            <a:extLst>
              <a:ext uri="{FF2B5EF4-FFF2-40B4-BE49-F238E27FC236}">
                <a16:creationId xmlns:a16="http://schemas.microsoft.com/office/drawing/2014/main" id="{81451058-7CCE-5520-565A-D38702D01F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32B90E-37EF-1117-E073-4C9F12805DA3}"/>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2482797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695864-B58D-69C0-90B2-931AFAB06232}"/>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3" name="Footer Placeholder 2">
            <a:extLst>
              <a:ext uri="{FF2B5EF4-FFF2-40B4-BE49-F238E27FC236}">
                <a16:creationId xmlns:a16="http://schemas.microsoft.com/office/drawing/2014/main" id="{73D5E981-2A13-326C-EA7F-CD48B468DD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E0855-ACC7-EB79-98A9-445A98CC0AC6}"/>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152154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E6B6-9438-20F0-B7A8-909A5395E2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618B6F-0E85-5EC2-8001-C14264FF4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966689-B5CF-8B4C-393B-C7309CB9A1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DFEC8E-0E36-873F-411B-297381546D0A}"/>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6" name="Footer Placeholder 5">
            <a:extLst>
              <a:ext uri="{FF2B5EF4-FFF2-40B4-BE49-F238E27FC236}">
                <a16:creationId xmlns:a16="http://schemas.microsoft.com/office/drawing/2014/main" id="{9D552F41-7C72-8E20-656D-C35B561D74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77B549-3698-0843-8888-9F44F02B17FF}"/>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284588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29F9-6F95-008C-B29D-405EE571DA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CA0F8-A418-A90D-9493-A2B9F75F67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453631-7D77-F7EA-8FCF-E59B7AEBF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9EEFC3-2AC7-6BF6-ABC7-21BCC61A3811}"/>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6" name="Footer Placeholder 5">
            <a:extLst>
              <a:ext uri="{FF2B5EF4-FFF2-40B4-BE49-F238E27FC236}">
                <a16:creationId xmlns:a16="http://schemas.microsoft.com/office/drawing/2014/main" id="{2059180C-DCF1-6541-B5EA-E61FB50481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CC7CA9-794E-A7FC-0D03-72E15E120AE2}"/>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3289956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DD56-0E96-E90F-408E-BFB785F569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2C3766-A041-1F3D-82B1-738511D389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DF22F-DDE2-865D-46F8-C3FCC9ADB504}"/>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A2DE2283-0983-CAF9-9D00-6456367E4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C42953-F259-A8EE-A699-89556C3E72DE}"/>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1485376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1B85DA-1AC8-0FB0-489E-00F7D2FF1A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226FF7-C49B-D13D-53FD-59332CB090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CF3C58-5EF7-7E74-3C6C-2558307C8D49}"/>
              </a:ext>
            </a:extLst>
          </p:cNvPr>
          <p:cNvSpPr>
            <a:spLocks noGrp="1"/>
          </p:cNvSpPr>
          <p:nvPr>
            <p:ph type="dt" sz="half" idx="10"/>
          </p:nvPr>
        </p:nvSpPr>
        <p:spPr/>
        <p:txBody>
          <a:body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81E28FB4-1A5C-B7F5-8A09-F2EE1574E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D7278F-9991-9745-F1C3-41DDF736B938}"/>
              </a:ext>
            </a:extLst>
          </p:cNvPr>
          <p:cNvSpPr>
            <a:spLocks noGrp="1"/>
          </p:cNvSpPr>
          <p:nvPr>
            <p:ph type="sldNum" sz="quarter" idx="12"/>
          </p:nvPr>
        </p:nvSpPr>
        <p:spPr/>
        <p:txBody>
          <a:bodyPr/>
          <a:lstStyle/>
          <a:p>
            <a:fld id="{ABD68ABF-E488-4A88-AA1F-3282B14CEC86}" type="slidenum">
              <a:rPr lang="en-US" smtClean="0"/>
              <a:t>‹#›</a:t>
            </a:fld>
            <a:endParaRPr lang="en-US"/>
          </a:p>
        </p:txBody>
      </p:sp>
    </p:spTree>
    <p:extLst>
      <p:ext uri="{BB962C8B-B14F-4D97-AF65-F5344CB8AC3E}">
        <p14:creationId xmlns:p14="http://schemas.microsoft.com/office/powerpoint/2010/main" val="168354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0D75A4-59B1-A688-8B16-77257C8735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CA2D3B-24FB-92A9-FD94-6C9D30AD7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09A74-B158-70A9-B4D0-A98D048235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15F739-87B9-4ECB-8BFB-A4CE43903041}" type="datetimeFigureOut">
              <a:rPr lang="en-US" smtClean="0"/>
              <a:t>07/10/2026</a:t>
            </a:fld>
            <a:endParaRPr lang="en-US"/>
          </a:p>
        </p:txBody>
      </p:sp>
      <p:sp>
        <p:nvSpPr>
          <p:cNvPr id="5" name="Footer Placeholder 4">
            <a:extLst>
              <a:ext uri="{FF2B5EF4-FFF2-40B4-BE49-F238E27FC236}">
                <a16:creationId xmlns:a16="http://schemas.microsoft.com/office/drawing/2014/main" id="{A3046F6B-5DC9-C74C-86D7-6B58A83654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9A7737-8B32-4AEC-8238-40E52D2698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D68ABF-E488-4A88-AA1F-3282B14CEC86}" type="slidenum">
              <a:rPr lang="en-US" smtClean="0"/>
              <a:t>‹#›</a:t>
            </a:fld>
            <a:endParaRPr lang="en-US"/>
          </a:p>
        </p:txBody>
      </p:sp>
    </p:spTree>
    <p:extLst>
      <p:ext uri="{BB962C8B-B14F-4D97-AF65-F5344CB8AC3E}">
        <p14:creationId xmlns:p14="http://schemas.microsoft.com/office/powerpoint/2010/main" val="3517288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7FA73A-AB0E-AD9F-2CAC-E2B6845CA224}"/>
              </a:ext>
            </a:extLst>
          </p:cNvPr>
          <p:cNvSpPr/>
          <p:nvPr/>
        </p:nvSpPr>
        <p:spPr>
          <a:xfrm>
            <a:off x="0" y="0"/>
            <a:ext cx="203200" cy="6858000"/>
          </a:xfrm>
          <a:prstGeom prst="rect">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7AFF93-E71F-76F3-6757-338218E535C0}"/>
              </a:ext>
            </a:extLst>
          </p:cNvPr>
          <p:cNvSpPr txBox="1"/>
          <p:nvPr/>
        </p:nvSpPr>
        <p:spPr>
          <a:xfrm>
            <a:off x="914400" y="1803400"/>
            <a:ext cx="9652000" cy="584775"/>
          </a:xfrm>
          <a:prstGeom prst="rect">
            <a:avLst/>
          </a:prstGeom>
          <a:noFill/>
        </p:spPr>
        <p:txBody>
          <a:bodyPr vert="horz" wrap="square" lIns="0" tIns="0" rIns="0" bIns="0" rtlCol="0">
            <a:spAutoFit/>
          </a:bodyPr>
          <a:lstStyle/>
          <a:p>
            <a:r>
              <a:rPr lang="en-US" sz="3800" b="1">
                <a:solidFill>
                  <a:srgbClr val="FFFFFF"/>
                </a:solidFill>
                <a:latin typeface="Aptos" panose="020B0004020202020204" pitchFamily="34" charset="0"/>
              </a:rPr>
              <a:t>CareLink Follow-Up</a:t>
            </a:r>
          </a:p>
        </p:txBody>
      </p:sp>
      <p:sp>
        <p:nvSpPr>
          <p:cNvPr id="4" name="TextBox 3">
            <a:extLst>
              <a:ext uri="{FF2B5EF4-FFF2-40B4-BE49-F238E27FC236}">
                <a16:creationId xmlns:a16="http://schemas.microsoft.com/office/drawing/2014/main" id="{FC7F584B-F3F1-D9D0-D14F-96387FB25CF7}"/>
              </a:ext>
            </a:extLst>
          </p:cNvPr>
          <p:cNvSpPr txBox="1"/>
          <p:nvPr/>
        </p:nvSpPr>
        <p:spPr>
          <a:xfrm>
            <a:off x="939800" y="2844800"/>
            <a:ext cx="8890000" cy="338554"/>
          </a:xfrm>
          <a:prstGeom prst="rect">
            <a:avLst/>
          </a:prstGeom>
          <a:noFill/>
        </p:spPr>
        <p:txBody>
          <a:bodyPr vert="horz" wrap="square" lIns="0" tIns="0" rIns="0" bIns="0" rtlCol="0">
            <a:spAutoFit/>
          </a:bodyPr>
          <a:lstStyle/>
          <a:p>
            <a:r>
              <a:rPr lang="en-GB" sz="2200">
                <a:solidFill>
                  <a:srgbClr val="B8C8D9"/>
                </a:solidFill>
                <a:latin typeface="Aptos" panose="020B0004020202020204" pitchFamily="34" charset="0"/>
              </a:rPr>
              <a:t>A reliable missed-appointment worklist for connected and offline clinics</a:t>
            </a:r>
            <a:endParaRPr lang="en-US" sz="2200">
              <a:solidFill>
                <a:srgbClr val="B8C8D9"/>
              </a:solidFill>
              <a:latin typeface="Aptos" panose="020B0004020202020204" pitchFamily="34" charset="0"/>
            </a:endParaRPr>
          </a:p>
        </p:txBody>
      </p:sp>
      <p:cxnSp>
        <p:nvCxnSpPr>
          <p:cNvPr id="5" name="Straight Arrow Connector 4">
            <a:extLst>
              <a:ext uri="{FF2B5EF4-FFF2-40B4-BE49-F238E27FC236}">
                <a16:creationId xmlns:a16="http://schemas.microsoft.com/office/drawing/2014/main" id="{A3D7C5EE-1414-0E29-6C8B-FFFD5FE599F5}"/>
              </a:ext>
            </a:extLst>
          </p:cNvPr>
          <p:cNvCxnSpPr/>
          <p:nvPr/>
        </p:nvCxnSpPr>
        <p:spPr>
          <a:xfrm>
            <a:off x="939800" y="3886200"/>
            <a:ext cx="3022600" cy="0"/>
          </a:xfrm>
          <a:prstGeom prst="straightConnector1">
            <a:avLst/>
          </a:prstGeom>
          <a:ln w="50800">
            <a:solidFill>
              <a:srgbClr val="0F766E"/>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E031861-7A3F-EF19-E145-E48C32B7CF97}"/>
              </a:ext>
            </a:extLst>
          </p:cNvPr>
          <p:cNvSpPr txBox="1"/>
          <p:nvPr/>
        </p:nvSpPr>
        <p:spPr>
          <a:xfrm>
            <a:off x="939800" y="4318000"/>
            <a:ext cx="4826000" cy="200055"/>
          </a:xfrm>
          <a:prstGeom prst="rect">
            <a:avLst/>
          </a:prstGeom>
          <a:noFill/>
        </p:spPr>
        <p:txBody>
          <a:bodyPr vert="horz" wrap="square" lIns="0" tIns="0" rIns="0" bIns="0" rtlCol="0">
            <a:spAutoFit/>
          </a:bodyPr>
          <a:lstStyle/>
          <a:p>
            <a:r>
              <a:rPr lang="en-US" sz="1300" b="1">
                <a:solidFill>
                  <a:srgbClr val="FFFFFF"/>
                </a:solidFill>
                <a:latin typeface="Aptos" panose="020B0004020202020204" pitchFamily="34" charset="0"/>
              </a:rPr>
              <a:t>ITHAMAR NYANGU</a:t>
            </a:r>
          </a:p>
        </p:txBody>
      </p:sp>
      <p:sp>
        <p:nvSpPr>
          <p:cNvPr id="7" name="TextBox 6">
            <a:extLst>
              <a:ext uri="{FF2B5EF4-FFF2-40B4-BE49-F238E27FC236}">
                <a16:creationId xmlns:a16="http://schemas.microsoft.com/office/drawing/2014/main" id="{873B8438-3F4A-FD07-1E4D-DD1FAFC3D5BB}"/>
              </a:ext>
            </a:extLst>
          </p:cNvPr>
          <p:cNvSpPr txBox="1"/>
          <p:nvPr/>
        </p:nvSpPr>
        <p:spPr>
          <a:xfrm>
            <a:off x="939800" y="4749800"/>
            <a:ext cx="5461000" cy="246221"/>
          </a:xfrm>
          <a:prstGeom prst="rect">
            <a:avLst/>
          </a:prstGeom>
          <a:noFill/>
        </p:spPr>
        <p:txBody>
          <a:bodyPr vert="horz" wrap="square" lIns="0" tIns="0" rIns="0" bIns="0" rtlCol="0">
            <a:spAutoFit/>
          </a:bodyPr>
          <a:lstStyle/>
          <a:p>
            <a:r>
              <a:rPr lang="en-US" sz="1600">
                <a:solidFill>
                  <a:srgbClr val="B8C8D9"/>
                </a:solidFill>
                <a:latin typeface="Aptos" panose="020B0004020202020204" pitchFamily="34" charset="0"/>
              </a:rPr>
              <a:t>Software Engineer technical assessment</a:t>
            </a:r>
          </a:p>
        </p:txBody>
      </p:sp>
      <p:sp>
        <p:nvSpPr>
          <p:cNvPr id="8" name="TextBox 7">
            <a:extLst>
              <a:ext uri="{FF2B5EF4-FFF2-40B4-BE49-F238E27FC236}">
                <a16:creationId xmlns:a16="http://schemas.microsoft.com/office/drawing/2014/main" id="{487C2B45-89DF-61E0-04AA-5261BD567813}"/>
              </a:ext>
            </a:extLst>
          </p:cNvPr>
          <p:cNvSpPr txBox="1"/>
          <p:nvPr/>
        </p:nvSpPr>
        <p:spPr>
          <a:xfrm>
            <a:off x="939800" y="5626100"/>
            <a:ext cx="3302000" cy="184666"/>
          </a:xfrm>
          <a:prstGeom prst="rect">
            <a:avLst/>
          </a:prstGeom>
          <a:noFill/>
        </p:spPr>
        <p:txBody>
          <a:bodyPr vert="horz" wrap="square" lIns="0" tIns="0" rIns="0" bIns="0" rtlCol="0">
            <a:spAutoFit/>
          </a:bodyPr>
          <a:lstStyle/>
          <a:p>
            <a:r>
              <a:rPr lang="en-US" sz="1200" dirty="0">
                <a:solidFill>
                  <a:srgbClr val="B8C8D9"/>
                </a:solidFill>
                <a:latin typeface="Aptos" panose="020B0004020202020204" pitchFamily="34" charset="0"/>
              </a:rPr>
              <a:t>7th October 2026</a:t>
            </a:r>
          </a:p>
        </p:txBody>
      </p:sp>
    </p:spTree>
    <p:extLst>
      <p:ext uri="{BB962C8B-B14F-4D97-AF65-F5344CB8AC3E}">
        <p14:creationId xmlns:p14="http://schemas.microsoft.com/office/powerpoint/2010/main" val="339855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D50D59-A2D7-A965-6CC2-C89B7DB00876}"/>
              </a:ext>
            </a:extLst>
          </p:cNvPr>
          <p:cNvSpPr txBox="1"/>
          <p:nvPr/>
        </p:nvSpPr>
        <p:spPr>
          <a:xfrm>
            <a:off x="685800" y="355600"/>
            <a:ext cx="10414000" cy="430887"/>
          </a:xfrm>
          <a:prstGeom prst="rect">
            <a:avLst/>
          </a:prstGeom>
          <a:noFill/>
        </p:spPr>
        <p:txBody>
          <a:bodyPr vert="horz" wrap="square" lIns="0" tIns="0" rIns="0" bIns="0" rtlCol="0">
            <a:spAutoFit/>
          </a:bodyPr>
          <a:lstStyle/>
          <a:p>
            <a:r>
              <a:rPr lang="en-US" sz="2800" b="1">
                <a:solidFill>
                  <a:srgbClr val="0F172A"/>
                </a:solidFill>
                <a:latin typeface="Aptos" panose="020B0004020202020204" pitchFamily="34" charset="0"/>
              </a:rPr>
              <a:t>Follow-up rule and assumptions</a:t>
            </a:r>
          </a:p>
        </p:txBody>
      </p:sp>
      <p:sp>
        <p:nvSpPr>
          <p:cNvPr id="3" name="TextBox 2">
            <a:extLst>
              <a:ext uri="{FF2B5EF4-FFF2-40B4-BE49-F238E27FC236}">
                <a16:creationId xmlns:a16="http://schemas.microsoft.com/office/drawing/2014/main" id="{F755FD48-A1EA-5297-D44E-B9E8FA88C48E}"/>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02</a:t>
            </a:r>
          </a:p>
        </p:txBody>
      </p:sp>
      <p:cxnSp>
        <p:nvCxnSpPr>
          <p:cNvPr id="4" name="Straight Arrow Connector 3">
            <a:extLst>
              <a:ext uri="{FF2B5EF4-FFF2-40B4-BE49-F238E27FC236}">
                <a16:creationId xmlns:a16="http://schemas.microsoft.com/office/drawing/2014/main" id="{D9DDD267-E110-93AA-7606-68173B800717}"/>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7431976-EBEB-4795-2061-763AB3157037}"/>
              </a:ext>
            </a:extLst>
          </p:cNvPr>
          <p:cNvSpPr txBox="1"/>
          <p:nvPr/>
        </p:nvSpPr>
        <p:spPr>
          <a:xfrm>
            <a:off x="711200" y="1270000"/>
            <a:ext cx="7366000" cy="307777"/>
          </a:xfrm>
          <a:prstGeom prst="rect">
            <a:avLst/>
          </a:prstGeom>
          <a:noFill/>
        </p:spPr>
        <p:txBody>
          <a:bodyPr vert="horz" wrap="square" lIns="0" tIns="0" rIns="0" bIns="0" rtlCol="0">
            <a:spAutoFit/>
          </a:bodyPr>
          <a:lstStyle/>
          <a:p>
            <a:r>
              <a:rPr lang="en-GB" sz="2000" b="1">
                <a:solidFill>
                  <a:srgbClr val="115E59"/>
                </a:solidFill>
                <a:latin typeface="Aptos" panose="020B0004020202020204" pitchFamily="34" charset="0"/>
              </a:rPr>
              <a:t>Latest visit controls the current status</a:t>
            </a:r>
            <a:endParaRPr lang="en-US" sz="2000" b="1">
              <a:solidFill>
                <a:srgbClr val="115E59"/>
              </a:solidFill>
              <a:latin typeface="Aptos" panose="020B0004020202020204" pitchFamily="34" charset="0"/>
            </a:endParaRPr>
          </a:p>
        </p:txBody>
      </p:sp>
      <p:cxnSp>
        <p:nvCxnSpPr>
          <p:cNvPr id="6" name="Straight Arrow Connector 5">
            <a:extLst>
              <a:ext uri="{FF2B5EF4-FFF2-40B4-BE49-F238E27FC236}">
                <a16:creationId xmlns:a16="http://schemas.microsoft.com/office/drawing/2014/main" id="{0F5FBB1C-315F-A688-762F-BBF7742937A0}"/>
              </a:ext>
            </a:extLst>
          </p:cNvPr>
          <p:cNvCxnSpPr/>
          <p:nvPr/>
        </p:nvCxnSpPr>
        <p:spPr>
          <a:xfrm>
            <a:off x="1752600" y="2667000"/>
            <a:ext cx="19558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50348191-3D19-C143-4951-3BCA86F891C2}"/>
              </a:ext>
            </a:extLst>
          </p:cNvPr>
          <p:cNvSpPr/>
          <p:nvPr/>
        </p:nvSpPr>
        <p:spPr>
          <a:xfrm>
            <a:off x="1168400" y="2413000"/>
            <a:ext cx="508000" cy="5080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C75F14-9A92-6361-1524-902EA7335842}"/>
              </a:ext>
            </a:extLst>
          </p:cNvPr>
          <p:cNvSpPr txBox="1"/>
          <p:nvPr/>
        </p:nvSpPr>
        <p:spPr>
          <a:xfrm>
            <a:off x="1308100" y="2555488"/>
            <a:ext cx="254000" cy="200055"/>
          </a:xfrm>
          <a:prstGeom prst="rect">
            <a:avLst/>
          </a:prstGeom>
          <a:noFill/>
        </p:spPr>
        <p:txBody>
          <a:bodyPr vert="horz" wrap="square" lIns="0" tIns="0" rIns="0" bIns="0" rtlCol="0">
            <a:spAutoFit/>
          </a:bodyPr>
          <a:lstStyle/>
          <a:p>
            <a:pPr algn="ctr"/>
            <a:r>
              <a:rPr lang="en-US" sz="1300" b="1" dirty="0">
                <a:solidFill>
                  <a:srgbClr val="FFFFFF"/>
                </a:solidFill>
                <a:latin typeface="Aptos" panose="020B0004020202020204" pitchFamily="34" charset="0"/>
              </a:rPr>
              <a:t>1</a:t>
            </a:r>
          </a:p>
        </p:txBody>
      </p:sp>
      <p:sp>
        <p:nvSpPr>
          <p:cNvPr id="9" name="TextBox 8">
            <a:extLst>
              <a:ext uri="{FF2B5EF4-FFF2-40B4-BE49-F238E27FC236}">
                <a16:creationId xmlns:a16="http://schemas.microsoft.com/office/drawing/2014/main" id="{40EA5B85-CEE4-8A8F-D4D6-FB51B6CBA7D6}"/>
              </a:ext>
            </a:extLst>
          </p:cNvPr>
          <p:cNvSpPr txBox="1"/>
          <p:nvPr/>
        </p:nvSpPr>
        <p:spPr>
          <a:xfrm>
            <a:off x="660400" y="3124200"/>
            <a:ext cx="1600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Visit recorded</a:t>
            </a:r>
          </a:p>
        </p:txBody>
      </p:sp>
      <p:sp>
        <p:nvSpPr>
          <p:cNvPr id="10" name="TextBox 9">
            <a:extLst>
              <a:ext uri="{FF2B5EF4-FFF2-40B4-BE49-F238E27FC236}">
                <a16:creationId xmlns:a16="http://schemas.microsoft.com/office/drawing/2014/main" id="{79F9AA41-9AB5-1561-3B09-5AE87B46E1D7}"/>
              </a:ext>
            </a:extLst>
          </p:cNvPr>
          <p:cNvSpPr txBox="1"/>
          <p:nvPr/>
        </p:nvSpPr>
        <p:spPr>
          <a:xfrm>
            <a:off x="812800" y="3644900"/>
            <a:ext cx="1270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23 Aug</a:t>
            </a:r>
          </a:p>
        </p:txBody>
      </p:sp>
      <p:sp>
        <p:nvSpPr>
          <p:cNvPr id="11" name="TextBox 10">
            <a:extLst>
              <a:ext uri="{FF2B5EF4-FFF2-40B4-BE49-F238E27FC236}">
                <a16:creationId xmlns:a16="http://schemas.microsoft.com/office/drawing/2014/main" id="{188E3039-7D6F-86E9-101E-A0156AD561E4}"/>
              </a:ext>
            </a:extLst>
          </p:cNvPr>
          <p:cNvSpPr txBox="1"/>
          <p:nvPr/>
        </p:nvSpPr>
        <p:spPr>
          <a:xfrm>
            <a:off x="558800" y="4025900"/>
            <a:ext cx="1778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Next date set</a:t>
            </a:r>
          </a:p>
        </p:txBody>
      </p:sp>
      <p:cxnSp>
        <p:nvCxnSpPr>
          <p:cNvPr id="12" name="Straight Arrow Connector 11">
            <a:extLst>
              <a:ext uri="{FF2B5EF4-FFF2-40B4-BE49-F238E27FC236}">
                <a16:creationId xmlns:a16="http://schemas.microsoft.com/office/drawing/2014/main" id="{AA93FB50-3DFA-FA78-2F43-DE3897503FC7}"/>
              </a:ext>
            </a:extLst>
          </p:cNvPr>
          <p:cNvCxnSpPr/>
          <p:nvPr/>
        </p:nvCxnSpPr>
        <p:spPr>
          <a:xfrm>
            <a:off x="4648200" y="2667000"/>
            <a:ext cx="19558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B1994FC6-811D-626C-5DFD-C0799C976AE1}"/>
              </a:ext>
            </a:extLst>
          </p:cNvPr>
          <p:cNvSpPr/>
          <p:nvPr/>
        </p:nvSpPr>
        <p:spPr>
          <a:xfrm>
            <a:off x="4064000" y="2413000"/>
            <a:ext cx="508000" cy="5080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A87B4D-B138-A35E-2DAD-3CC13546C6F4}"/>
              </a:ext>
            </a:extLst>
          </p:cNvPr>
          <p:cNvSpPr txBox="1"/>
          <p:nvPr/>
        </p:nvSpPr>
        <p:spPr>
          <a:xfrm>
            <a:off x="4191000" y="2550299"/>
            <a:ext cx="254000" cy="200055"/>
          </a:xfrm>
          <a:prstGeom prst="rect">
            <a:avLst/>
          </a:prstGeom>
          <a:noFill/>
        </p:spPr>
        <p:txBody>
          <a:bodyPr vert="horz" wrap="square" lIns="0" tIns="0" rIns="0" bIns="0" rtlCol="0">
            <a:spAutoFit/>
          </a:bodyPr>
          <a:lstStyle/>
          <a:p>
            <a:pPr algn="ctr"/>
            <a:r>
              <a:rPr lang="en-US" sz="1300" b="1" dirty="0">
                <a:solidFill>
                  <a:srgbClr val="FFFFFF"/>
                </a:solidFill>
                <a:latin typeface="Aptos" panose="020B0004020202020204" pitchFamily="34" charset="0"/>
              </a:rPr>
              <a:t>2</a:t>
            </a:r>
          </a:p>
        </p:txBody>
      </p:sp>
      <p:sp>
        <p:nvSpPr>
          <p:cNvPr id="15" name="TextBox 14">
            <a:extLst>
              <a:ext uri="{FF2B5EF4-FFF2-40B4-BE49-F238E27FC236}">
                <a16:creationId xmlns:a16="http://schemas.microsoft.com/office/drawing/2014/main" id="{7640080E-DC21-D19D-C161-CB4062B227A6}"/>
              </a:ext>
            </a:extLst>
          </p:cNvPr>
          <p:cNvSpPr txBox="1"/>
          <p:nvPr/>
        </p:nvSpPr>
        <p:spPr>
          <a:xfrm>
            <a:off x="3556000" y="3124200"/>
            <a:ext cx="1600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Appointment due</a:t>
            </a:r>
          </a:p>
        </p:txBody>
      </p:sp>
      <p:sp>
        <p:nvSpPr>
          <p:cNvPr id="16" name="TextBox 15">
            <a:extLst>
              <a:ext uri="{FF2B5EF4-FFF2-40B4-BE49-F238E27FC236}">
                <a16:creationId xmlns:a16="http://schemas.microsoft.com/office/drawing/2014/main" id="{12B89B6E-2BC6-A89E-4DE1-3B7A3865514C}"/>
              </a:ext>
            </a:extLst>
          </p:cNvPr>
          <p:cNvSpPr txBox="1"/>
          <p:nvPr/>
        </p:nvSpPr>
        <p:spPr>
          <a:xfrm>
            <a:off x="3708400" y="3644900"/>
            <a:ext cx="1270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29 Sep</a:t>
            </a:r>
          </a:p>
        </p:txBody>
      </p:sp>
      <p:sp>
        <p:nvSpPr>
          <p:cNvPr id="17" name="TextBox 16">
            <a:extLst>
              <a:ext uri="{FF2B5EF4-FFF2-40B4-BE49-F238E27FC236}">
                <a16:creationId xmlns:a16="http://schemas.microsoft.com/office/drawing/2014/main" id="{1438E390-1099-DEB5-29D1-C77B4CAFBB64}"/>
              </a:ext>
            </a:extLst>
          </p:cNvPr>
          <p:cNvSpPr txBox="1"/>
          <p:nvPr/>
        </p:nvSpPr>
        <p:spPr>
          <a:xfrm>
            <a:off x="3454400" y="4025900"/>
            <a:ext cx="1778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Due date passes</a:t>
            </a:r>
          </a:p>
        </p:txBody>
      </p:sp>
      <p:cxnSp>
        <p:nvCxnSpPr>
          <p:cNvPr id="18" name="Straight Arrow Connector 17">
            <a:extLst>
              <a:ext uri="{FF2B5EF4-FFF2-40B4-BE49-F238E27FC236}">
                <a16:creationId xmlns:a16="http://schemas.microsoft.com/office/drawing/2014/main" id="{D5E63EA2-9542-6FDE-3F72-2F77493D450B}"/>
              </a:ext>
            </a:extLst>
          </p:cNvPr>
          <p:cNvCxnSpPr/>
          <p:nvPr/>
        </p:nvCxnSpPr>
        <p:spPr>
          <a:xfrm>
            <a:off x="7543800" y="2667000"/>
            <a:ext cx="19558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CB2BB346-F4DC-20D8-934A-C254AABB3CBE}"/>
              </a:ext>
            </a:extLst>
          </p:cNvPr>
          <p:cNvSpPr/>
          <p:nvPr/>
        </p:nvSpPr>
        <p:spPr>
          <a:xfrm>
            <a:off x="6959600" y="2413000"/>
            <a:ext cx="508000" cy="5080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CCAE979-774A-562D-4666-008DFD1A2A23}"/>
              </a:ext>
            </a:extLst>
          </p:cNvPr>
          <p:cNvSpPr txBox="1"/>
          <p:nvPr/>
        </p:nvSpPr>
        <p:spPr>
          <a:xfrm>
            <a:off x="7099300" y="2550299"/>
            <a:ext cx="254000" cy="200055"/>
          </a:xfrm>
          <a:prstGeom prst="rect">
            <a:avLst/>
          </a:prstGeom>
          <a:noFill/>
        </p:spPr>
        <p:txBody>
          <a:bodyPr vert="horz" wrap="square" lIns="0" tIns="0" rIns="0" bIns="0" rtlCol="0">
            <a:spAutoFit/>
          </a:bodyPr>
          <a:lstStyle/>
          <a:p>
            <a:pPr algn="ctr"/>
            <a:r>
              <a:rPr lang="en-US" sz="1300" b="1" dirty="0">
                <a:solidFill>
                  <a:srgbClr val="FFFFFF"/>
                </a:solidFill>
                <a:latin typeface="Aptos" panose="020B0004020202020204" pitchFamily="34" charset="0"/>
              </a:rPr>
              <a:t>3</a:t>
            </a:r>
          </a:p>
        </p:txBody>
      </p:sp>
      <p:sp>
        <p:nvSpPr>
          <p:cNvPr id="21" name="TextBox 20">
            <a:extLst>
              <a:ext uri="{FF2B5EF4-FFF2-40B4-BE49-F238E27FC236}">
                <a16:creationId xmlns:a16="http://schemas.microsoft.com/office/drawing/2014/main" id="{FC09B916-CC8D-57AD-7908-C35DE0B093D6}"/>
              </a:ext>
            </a:extLst>
          </p:cNvPr>
          <p:cNvSpPr txBox="1"/>
          <p:nvPr/>
        </p:nvSpPr>
        <p:spPr>
          <a:xfrm>
            <a:off x="6451600" y="3124200"/>
            <a:ext cx="1600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7 days late</a:t>
            </a:r>
          </a:p>
        </p:txBody>
      </p:sp>
      <p:sp>
        <p:nvSpPr>
          <p:cNvPr id="22" name="TextBox 21">
            <a:extLst>
              <a:ext uri="{FF2B5EF4-FFF2-40B4-BE49-F238E27FC236}">
                <a16:creationId xmlns:a16="http://schemas.microsoft.com/office/drawing/2014/main" id="{F43E2802-026F-3D0E-25F0-FF4CCB2D7A1A}"/>
              </a:ext>
            </a:extLst>
          </p:cNvPr>
          <p:cNvSpPr txBox="1"/>
          <p:nvPr/>
        </p:nvSpPr>
        <p:spPr>
          <a:xfrm>
            <a:off x="6604000" y="3644900"/>
            <a:ext cx="1270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6 Oct</a:t>
            </a:r>
          </a:p>
        </p:txBody>
      </p:sp>
      <p:sp>
        <p:nvSpPr>
          <p:cNvPr id="23" name="TextBox 22">
            <a:extLst>
              <a:ext uri="{FF2B5EF4-FFF2-40B4-BE49-F238E27FC236}">
                <a16:creationId xmlns:a16="http://schemas.microsoft.com/office/drawing/2014/main" id="{09562562-BD9A-5299-CDC4-8187E03A7117}"/>
              </a:ext>
            </a:extLst>
          </p:cNvPr>
          <p:cNvSpPr txBox="1"/>
          <p:nvPr/>
        </p:nvSpPr>
        <p:spPr>
          <a:xfrm>
            <a:off x="6350000" y="4025900"/>
            <a:ext cx="1778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Still missed</a:t>
            </a:r>
          </a:p>
        </p:txBody>
      </p:sp>
      <p:sp>
        <p:nvSpPr>
          <p:cNvPr id="24" name="Oval 23">
            <a:extLst>
              <a:ext uri="{FF2B5EF4-FFF2-40B4-BE49-F238E27FC236}">
                <a16:creationId xmlns:a16="http://schemas.microsoft.com/office/drawing/2014/main" id="{922A4212-D9CC-3934-AC79-19A0EFB339F0}"/>
              </a:ext>
            </a:extLst>
          </p:cNvPr>
          <p:cNvSpPr/>
          <p:nvPr/>
        </p:nvSpPr>
        <p:spPr>
          <a:xfrm>
            <a:off x="9855200" y="2413000"/>
            <a:ext cx="508000" cy="508000"/>
          </a:xfrm>
          <a:prstGeom prst="ellipse">
            <a:avLst/>
          </a:prstGeom>
          <a:solidFill>
            <a:srgbClr val="B91C1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23E47FA-13A3-5C8F-83D9-CDB7E8C91292}"/>
              </a:ext>
            </a:extLst>
          </p:cNvPr>
          <p:cNvSpPr txBox="1"/>
          <p:nvPr/>
        </p:nvSpPr>
        <p:spPr>
          <a:xfrm>
            <a:off x="9982200" y="2550298"/>
            <a:ext cx="254000" cy="200055"/>
          </a:xfrm>
          <a:prstGeom prst="rect">
            <a:avLst/>
          </a:prstGeom>
          <a:noFill/>
        </p:spPr>
        <p:txBody>
          <a:bodyPr vert="horz" wrap="square" lIns="0" tIns="0" rIns="0" bIns="0" rtlCol="0">
            <a:spAutoFit/>
          </a:bodyPr>
          <a:lstStyle/>
          <a:p>
            <a:pPr algn="ctr"/>
            <a:r>
              <a:rPr lang="en-US" sz="1300" b="1" dirty="0">
                <a:solidFill>
                  <a:srgbClr val="FFFFFF"/>
                </a:solidFill>
                <a:latin typeface="Aptos" panose="020B0004020202020204" pitchFamily="34" charset="0"/>
              </a:rPr>
              <a:t>4</a:t>
            </a:r>
          </a:p>
        </p:txBody>
      </p:sp>
      <p:sp>
        <p:nvSpPr>
          <p:cNvPr id="26" name="TextBox 25">
            <a:extLst>
              <a:ext uri="{FF2B5EF4-FFF2-40B4-BE49-F238E27FC236}">
                <a16:creationId xmlns:a16="http://schemas.microsoft.com/office/drawing/2014/main" id="{190FDA9C-8516-CDBA-0794-FE42C4656CF5}"/>
              </a:ext>
            </a:extLst>
          </p:cNvPr>
          <p:cNvSpPr txBox="1"/>
          <p:nvPr/>
        </p:nvSpPr>
        <p:spPr>
          <a:xfrm>
            <a:off x="9347200" y="3124200"/>
            <a:ext cx="1600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More than 7 days</a:t>
            </a:r>
          </a:p>
        </p:txBody>
      </p:sp>
      <p:sp>
        <p:nvSpPr>
          <p:cNvPr id="27" name="TextBox 26">
            <a:extLst>
              <a:ext uri="{FF2B5EF4-FFF2-40B4-BE49-F238E27FC236}">
                <a16:creationId xmlns:a16="http://schemas.microsoft.com/office/drawing/2014/main" id="{B06C09A8-5D5C-A1BF-D81A-FF7D4B17A742}"/>
              </a:ext>
            </a:extLst>
          </p:cNvPr>
          <p:cNvSpPr txBox="1"/>
          <p:nvPr/>
        </p:nvSpPr>
        <p:spPr>
          <a:xfrm>
            <a:off x="9499600" y="3644900"/>
            <a:ext cx="1270000" cy="200055"/>
          </a:xfrm>
          <a:prstGeom prst="rect">
            <a:avLst/>
          </a:prstGeom>
          <a:noFill/>
        </p:spPr>
        <p:txBody>
          <a:bodyPr vert="horz" wrap="square" lIns="0" tIns="0" rIns="0" bIns="0" rtlCol="0">
            <a:spAutoFit/>
          </a:bodyPr>
          <a:lstStyle/>
          <a:p>
            <a:pPr algn="ctr"/>
            <a:r>
              <a:rPr lang="en-US" sz="1300">
                <a:solidFill>
                  <a:srgbClr val="475569"/>
                </a:solidFill>
                <a:latin typeface="Aptos" panose="020B0004020202020204" pitchFamily="34" charset="0"/>
              </a:rPr>
              <a:t>7 Oct onward</a:t>
            </a:r>
          </a:p>
        </p:txBody>
      </p:sp>
      <p:sp>
        <p:nvSpPr>
          <p:cNvPr id="28" name="TextBox 27">
            <a:extLst>
              <a:ext uri="{FF2B5EF4-FFF2-40B4-BE49-F238E27FC236}">
                <a16:creationId xmlns:a16="http://schemas.microsoft.com/office/drawing/2014/main" id="{A6224A8A-045F-5F9C-960A-91EF270AF7D7}"/>
              </a:ext>
            </a:extLst>
          </p:cNvPr>
          <p:cNvSpPr txBox="1"/>
          <p:nvPr/>
        </p:nvSpPr>
        <p:spPr>
          <a:xfrm>
            <a:off x="9245600" y="4025900"/>
            <a:ext cx="1778000" cy="200055"/>
          </a:xfrm>
          <a:prstGeom prst="rect">
            <a:avLst/>
          </a:prstGeom>
          <a:noFill/>
        </p:spPr>
        <p:txBody>
          <a:bodyPr vert="horz" wrap="square" lIns="0" tIns="0" rIns="0" bIns="0" rtlCol="0">
            <a:spAutoFit/>
          </a:bodyPr>
          <a:lstStyle/>
          <a:p>
            <a:pPr algn="ctr"/>
            <a:r>
              <a:rPr lang="en-US" sz="1300">
                <a:solidFill>
                  <a:srgbClr val="B91C1C"/>
                </a:solidFill>
                <a:latin typeface="Aptos" panose="020B0004020202020204" pitchFamily="34" charset="0"/>
              </a:rPr>
              <a:t>Overdue queue</a:t>
            </a:r>
          </a:p>
        </p:txBody>
      </p:sp>
      <p:sp>
        <p:nvSpPr>
          <p:cNvPr id="29" name="Rectangle: Rounded Corners 28">
            <a:extLst>
              <a:ext uri="{FF2B5EF4-FFF2-40B4-BE49-F238E27FC236}">
                <a16:creationId xmlns:a16="http://schemas.microsoft.com/office/drawing/2014/main" id="{18506402-638D-CADE-1D62-7D067F615C9F}"/>
              </a:ext>
            </a:extLst>
          </p:cNvPr>
          <p:cNvSpPr/>
          <p:nvPr/>
        </p:nvSpPr>
        <p:spPr>
          <a:xfrm>
            <a:off x="1016000" y="5054600"/>
            <a:ext cx="10160000" cy="10922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482E14A-FD4A-EFCB-B5DC-B309771C41BC}"/>
              </a:ext>
            </a:extLst>
          </p:cNvPr>
          <p:cNvSpPr txBox="1"/>
          <p:nvPr/>
        </p:nvSpPr>
        <p:spPr>
          <a:xfrm>
            <a:off x="1371600" y="5295900"/>
            <a:ext cx="9448800" cy="276999"/>
          </a:xfrm>
          <a:prstGeom prst="rect">
            <a:avLst/>
          </a:prstGeom>
          <a:noFill/>
        </p:spPr>
        <p:txBody>
          <a:bodyPr vert="horz" wrap="square" lIns="0" tIns="0" rIns="0" bIns="0" rtlCol="0">
            <a:spAutoFit/>
          </a:bodyPr>
          <a:lstStyle/>
          <a:p>
            <a:pPr algn="ctr"/>
            <a:r>
              <a:rPr lang="en-GB" b="1">
                <a:solidFill>
                  <a:srgbClr val="0F172A"/>
                </a:solidFill>
                <a:latin typeface="Aptos" panose="020B0004020202020204" pitchFamily="34" charset="0"/>
              </a:rPr>
              <a:t>A later attended visit supersedes an earlier missed appointment.</a:t>
            </a:r>
            <a:endParaRPr lang="en-US" b="1">
              <a:solidFill>
                <a:srgbClr val="0F172A"/>
              </a:solidFill>
              <a:latin typeface="Aptos" panose="020B0004020202020204" pitchFamily="34" charset="0"/>
            </a:endParaRPr>
          </a:p>
        </p:txBody>
      </p:sp>
      <p:sp>
        <p:nvSpPr>
          <p:cNvPr id="31" name="TextBox 30">
            <a:extLst>
              <a:ext uri="{FF2B5EF4-FFF2-40B4-BE49-F238E27FC236}">
                <a16:creationId xmlns:a16="http://schemas.microsoft.com/office/drawing/2014/main" id="{96DF4719-8EBE-A1C8-EE25-55346BCC0C03}"/>
              </a:ext>
            </a:extLst>
          </p:cNvPr>
          <p:cNvSpPr txBox="1"/>
          <p:nvPr/>
        </p:nvSpPr>
        <p:spPr>
          <a:xfrm>
            <a:off x="1422400" y="5727700"/>
            <a:ext cx="9347200" cy="215444"/>
          </a:xfrm>
          <a:prstGeom prst="rect">
            <a:avLst/>
          </a:prstGeom>
          <a:noFill/>
        </p:spPr>
        <p:txBody>
          <a:bodyPr vert="horz" wrap="square" lIns="0" tIns="0" rIns="0" bIns="0" rtlCol="0">
            <a:spAutoFit/>
          </a:bodyPr>
          <a:lstStyle/>
          <a:p>
            <a:pPr algn="ctr"/>
            <a:r>
              <a:rPr lang="en-GB" sz="1400">
                <a:solidFill>
                  <a:srgbClr val="475569"/>
                </a:solidFill>
                <a:latin typeface="Aptos" panose="020B0004020202020204" pitchFamily="34" charset="0"/>
              </a:rPr>
              <a:t>The worklist represents the patient's latest actionable status, not every historical missed date.</a:t>
            </a:r>
            <a:endParaRPr lang="en-US" sz="1400">
              <a:solidFill>
                <a:srgbClr val="475569"/>
              </a:solidFill>
              <a:latin typeface="Aptos" panose="020B0004020202020204" pitchFamily="34" charset="0"/>
            </a:endParaRPr>
          </a:p>
        </p:txBody>
      </p:sp>
    </p:spTree>
    <p:extLst>
      <p:ext uri="{BB962C8B-B14F-4D97-AF65-F5344CB8AC3E}">
        <p14:creationId xmlns:p14="http://schemas.microsoft.com/office/powerpoint/2010/main" val="441604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1F07E4-3A38-80CA-2590-B6D65E0AF985}"/>
              </a:ext>
            </a:extLst>
          </p:cNvPr>
          <p:cNvSpPr txBox="1"/>
          <p:nvPr/>
        </p:nvSpPr>
        <p:spPr>
          <a:xfrm>
            <a:off x="685800" y="355600"/>
            <a:ext cx="10414000" cy="430887"/>
          </a:xfrm>
          <a:prstGeom prst="rect">
            <a:avLst/>
          </a:prstGeom>
          <a:noFill/>
        </p:spPr>
        <p:txBody>
          <a:bodyPr vert="horz" wrap="square" lIns="0" tIns="0" rIns="0" bIns="0" rtlCol="0">
            <a:spAutoFit/>
          </a:bodyPr>
          <a:lstStyle/>
          <a:p>
            <a:r>
              <a:rPr lang="en-US" sz="2800" b="1">
                <a:solidFill>
                  <a:srgbClr val="0F172A"/>
                </a:solidFill>
                <a:latin typeface="Aptos" panose="020B0004020202020204" pitchFamily="34" charset="0"/>
              </a:rPr>
              <a:t>Proposed national architecture</a:t>
            </a:r>
          </a:p>
        </p:txBody>
      </p:sp>
      <p:sp>
        <p:nvSpPr>
          <p:cNvPr id="3" name="TextBox 2">
            <a:extLst>
              <a:ext uri="{FF2B5EF4-FFF2-40B4-BE49-F238E27FC236}">
                <a16:creationId xmlns:a16="http://schemas.microsoft.com/office/drawing/2014/main" id="{3C860496-9ADD-C456-A773-75ED6617BC6B}"/>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03</a:t>
            </a:r>
          </a:p>
        </p:txBody>
      </p:sp>
      <p:cxnSp>
        <p:nvCxnSpPr>
          <p:cNvPr id="4" name="Straight Arrow Connector 3">
            <a:extLst>
              <a:ext uri="{FF2B5EF4-FFF2-40B4-BE49-F238E27FC236}">
                <a16:creationId xmlns:a16="http://schemas.microsoft.com/office/drawing/2014/main" id="{034B272C-A4A5-5ABA-1D5E-3BBCFEE6AB54}"/>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4CE0EE3-336C-DC4A-D9B0-D6C290CAE343}"/>
              </a:ext>
            </a:extLst>
          </p:cNvPr>
          <p:cNvSpPr txBox="1"/>
          <p:nvPr/>
        </p:nvSpPr>
        <p:spPr>
          <a:xfrm>
            <a:off x="914400" y="1219200"/>
            <a:ext cx="2159000" cy="230832"/>
          </a:xfrm>
          <a:prstGeom prst="rect">
            <a:avLst/>
          </a:prstGeom>
          <a:noFill/>
        </p:spPr>
        <p:txBody>
          <a:bodyPr vert="horz" wrap="square" lIns="0" tIns="0" rIns="0" bIns="0" rtlCol="0">
            <a:spAutoFit/>
          </a:bodyPr>
          <a:lstStyle/>
          <a:p>
            <a:r>
              <a:rPr lang="en-US" sz="1500" b="1">
                <a:solidFill>
                  <a:srgbClr val="115E59"/>
                </a:solidFill>
                <a:latin typeface="Aptos" panose="020B0004020202020204" pitchFamily="34" charset="0"/>
              </a:rPr>
              <a:t>Facility</a:t>
            </a:r>
          </a:p>
        </p:txBody>
      </p:sp>
      <p:sp>
        <p:nvSpPr>
          <p:cNvPr id="6" name="Rectangle: Rounded Corners 5">
            <a:extLst>
              <a:ext uri="{FF2B5EF4-FFF2-40B4-BE49-F238E27FC236}">
                <a16:creationId xmlns:a16="http://schemas.microsoft.com/office/drawing/2014/main" id="{206D79D6-8801-DE3A-05CC-57526AB6EE98}"/>
              </a:ext>
            </a:extLst>
          </p:cNvPr>
          <p:cNvSpPr/>
          <p:nvPr/>
        </p:nvSpPr>
        <p:spPr>
          <a:xfrm>
            <a:off x="812800" y="1574800"/>
            <a:ext cx="2921000" cy="3810000"/>
          </a:xfrm>
          <a:prstGeom prst="roundRect">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C81049A-89BA-FDB2-7E06-585E6AF27FB0}"/>
              </a:ext>
            </a:extLst>
          </p:cNvPr>
          <p:cNvSpPr/>
          <p:nvPr/>
        </p:nvSpPr>
        <p:spPr>
          <a:xfrm>
            <a:off x="1155700" y="2032000"/>
            <a:ext cx="2235200" cy="7366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9882DE6-E3D8-185E-E9BE-1E51D2B400F4}"/>
              </a:ext>
            </a:extLst>
          </p:cNvPr>
          <p:cNvSpPr txBox="1"/>
          <p:nvPr/>
        </p:nvSpPr>
        <p:spPr>
          <a:xfrm>
            <a:off x="1397000" y="2247900"/>
            <a:ext cx="1778000" cy="261610"/>
          </a:xfrm>
          <a:prstGeom prst="rect">
            <a:avLst/>
          </a:prstGeom>
          <a:noFill/>
        </p:spPr>
        <p:txBody>
          <a:bodyPr vert="horz" wrap="square" lIns="0" tIns="0" rIns="0" bIns="0" rtlCol="0">
            <a:spAutoFit/>
          </a:bodyPr>
          <a:lstStyle/>
          <a:p>
            <a:pPr algn="ctr"/>
            <a:r>
              <a:rPr lang="en-US" sz="1700" b="1">
                <a:solidFill>
                  <a:srgbClr val="0F172A"/>
                </a:solidFill>
                <a:latin typeface="Aptos" panose="020B0004020202020204" pitchFamily="34" charset="0"/>
              </a:rPr>
              <a:t>CareLink client</a:t>
            </a:r>
          </a:p>
        </p:txBody>
      </p:sp>
      <p:sp>
        <p:nvSpPr>
          <p:cNvPr id="9" name="Rectangle: Rounded Corners 8">
            <a:extLst>
              <a:ext uri="{FF2B5EF4-FFF2-40B4-BE49-F238E27FC236}">
                <a16:creationId xmlns:a16="http://schemas.microsoft.com/office/drawing/2014/main" id="{38D95709-128B-EF9E-7A80-02BF56C22181}"/>
              </a:ext>
            </a:extLst>
          </p:cNvPr>
          <p:cNvSpPr/>
          <p:nvPr/>
        </p:nvSpPr>
        <p:spPr>
          <a:xfrm>
            <a:off x="1155700" y="3124200"/>
            <a:ext cx="2235200" cy="7366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2B3DA36-7F91-CF86-F0CF-3AA5052248FB}"/>
              </a:ext>
            </a:extLst>
          </p:cNvPr>
          <p:cNvSpPr txBox="1"/>
          <p:nvPr/>
        </p:nvSpPr>
        <p:spPr>
          <a:xfrm>
            <a:off x="1320800" y="3340100"/>
            <a:ext cx="19050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Encrypted local data</a:t>
            </a:r>
          </a:p>
        </p:txBody>
      </p:sp>
      <p:sp>
        <p:nvSpPr>
          <p:cNvPr id="11" name="Rectangle: Rounded Corners 10">
            <a:extLst>
              <a:ext uri="{FF2B5EF4-FFF2-40B4-BE49-F238E27FC236}">
                <a16:creationId xmlns:a16="http://schemas.microsoft.com/office/drawing/2014/main" id="{6194F10A-3FA3-271D-09D1-8397F9341BD6}"/>
              </a:ext>
            </a:extLst>
          </p:cNvPr>
          <p:cNvSpPr/>
          <p:nvPr/>
        </p:nvSpPr>
        <p:spPr>
          <a:xfrm>
            <a:off x="1155700" y="4191000"/>
            <a:ext cx="2235200" cy="7366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5DD46D8-6877-0C2E-8593-A69417EF2832}"/>
              </a:ext>
            </a:extLst>
          </p:cNvPr>
          <p:cNvSpPr txBox="1"/>
          <p:nvPr/>
        </p:nvSpPr>
        <p:spPr>
          <a:xfrm>
            <a:off x="1371600" y="4406900"/>
            <a:ext cx="18034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Durable sync queue</a:t>
            </a:r>
          </a:p>
        </p:txBody>
      </p:sp>
      <p:cxnSp>
        <p:nvCxnSpPr>
          <p:cNvPr id="13" name="Straight Arrow Connector 12">
            <a:extLst>
              <a:ext uri="{FF2B5EF4-FFF2-40B4-BE49-F238E27FC236}">
                <a16:creationId xmlns:a16="http://schemas.microsoft.com/office/drawing/2014/main" id="{9EC334DD-31A9-7973-683F-8B1E07C792F5}"/>
              </a:ext>
            </a:extLst>
          </p:cNvPr>
          <p:cNvCxnSpPr/>
          <p:nvPr/>
        </p:nvCxnSpPr>
        <p:spPr>
          <a:xfrm>
            <a:off x="2273300" y="2768600"/>
            <a:ext cx="0" cy="35560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F4DD02B-7E87-15E6-AC9A-2326F8A67875}"/>
              </a:ext>
            </a:extLst>
          </p:cNvPr>
          <p:cNvCxnSpPr/>
          <p:nvPr/>
        </p:nvCxnSpPr>
        <p:spPr>
          <a:xfrm>
            <a:off x="2273300" y="3860800"/>
            <a:ext cx="0" cy="33020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C0F7595-C33D-E656-7C4D-F4CF5CBAEEF1}"/>
              </a:ext>
            </a:extLst>
          </p:cNvPr>
          <p:cNvSpPr txBox="1"/>
          <p:nvPr/>
        </p:nvSpPr>
        <p:spPr>
          <a:xfrm>
            <a:off x="4610100" y="1219200"/>
            <a:ext cx="3937000" cy="230832"/>
          </a:xfrm>
          <a:prstGeom prst="rect">
            <a:avLst/>
          </a:prstGeom>
          <a:noFill/>
        </p:spPr>
        <p:txBody>
          <a:bodyPr vert="horz" wrap="square" lIns="0" tIns="0" rIns="0" bIns="0" rtlCol="0">
            <a:spAutoFit/>
          </a:bodyPr>
          <a:lstStyle/>
          <a:p>
            <a:r>
              <a:rPr lang="en-US" sz="1500" b="1">
                <a:solidFill>
                  <a:srgbClr val="115E59"/>
                </a:solidFill>
                <a:latin typeface="Aptos" panose="020B0004020202020204" pitchFamily="34" charset="0"/>
              </a:rPr>
              <a:t>In-country national environment</a:t>
            </a:r>
          </a:p>
        </p:txBody>
      </p:sp>
      <p:sp>
        <p:nvSpPr>
          <p:cNvPr id="16" name="Rectangle: Rounded Corners 15">
            <a:extLst>
              <a:ext uri="{FF2B5EF4-FFF2-40B4-BE49-F238E27FC236}">
                <a16:creationId xmlns:a16="http://schemas.microsoft.com/office/drawing/2014/main" id="{261AA8DE-278D-2CCE-E340-C49E7FFBBCAB}"/>
              </a:ext>
            </a:extLst>
          </p:cNvPr>
          <p:cNvSpPr/>
          <p:nvPr/>
        </p:nvSpPr>
        <p:spPr>
          <a:xfrm>
            <a:off x="4445000" y="1574800"/>
            <a:ext cx="4013200" cy="3810000"/>
          </a:xfrm>
          <a:prstGeom prst="roundRect">
            <a:avLst/>
          </a:prstGeom>
          <a:solidFill>
            <a:srgbClr val="FFFFFF"/>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E972008-FBA9-ECAF-FAE8-A0D724402222}"/>
              </a:ext>
            </a:extLst>
          </p:cNvPr>
          <p:cNvSpPr/>
          <p:nvPr/>
        </p:nvSpPr>
        <p:spPr>
          <a:xfrm>
            <a:off x="4953000" y="1981200"/>
            <a:ext cx="2997200" cy="698500"/>
          </a:xfrm>
          <a:prstGeom prst="roundRect">
            <a:avLst/>
          </a:prstGeom>
          <a:solidFill>
            <a:srgbClr val="0F766E"/>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046AF78-989E-F498-AA81-052D246F464D}"/>
              </a:ext>
            </a:extLst>
          </p:cNvPr>
          <p:cNvSpPr txBox="1"/>
          <p:nvPr/>
        </p:nvSpPr>
        <p:spPr>
          <a:xfrm>
            <a:off x="5245100" y="2197100"/>
            <a:ext cx="2413000" cy="246221"/>
          </a:xfrm>
          <a:prstGeom prst="rect">
            <a:avLst/>
          </a:prstGeom>
          <a:noFill/>
        </p:spPr>
        <p:txBody>
          <a:bodyPr vert="horz" wrap="square" lIns="0" tIns="0" rIns="0" bIns="0" rtlCol="0">
            <a:spAutoFit/>
          </a:bodyPr>
          <a:lstStyle/>
          <a:p>
            <a:pPr algn="ctr"/>
            <a:r>
              <a:rPr lang="en-US" sz="1600" b="1">
                <a:solidFill>
                  <a:srgbClr val="FFFFFF"/>
                </a:solidFill>
                <a:latin typeface="Aptos" panose="020B0004020202020204" pitchFamily="34" charset="0"/>
              </a:rPr>
              <a:t>Versioned API + identity</a:t>
            </a:r>
          </a:p>
        </p:txBody>
      </p:sp>
      <p:sp>
        <p:nvSpPr>
          <p:cNvPr id="19" name="Rectangle: Rounded Corners 18">
            <a:extLst>
              <a:ext uri="{FF2B5EF4-FFF2-40B4-BE49-F238E27FC236}">
                <a16:creationId xmlns:a16="http://schemas.microsoft.com/office/drawing/2014/main" id="{C4B63173-D1A6-5413-42D4-16C2323B7897}"/>
              </a:ext>
            </a:extLst>
          </p:cNvPr>
          <p:cNvSpPr/>
          <p:nvPr/>
        </p:nvSpPr>
        <p:spPr>
          <a:xfrm>
            <a:off x="4953000" y="3098800"/>
            <a:ext cx="2997200" cy="7874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FC79968-BF3A-F8AF-76E8-759A256239BE}"/>
              </a:ext>
            </a:extLst>
          </p:cNvPr>
          <p:cNvSpPr txBox="1"/>
          <p:nvPr/>
        </p:nvSpPr>
        <p:spPr>
          <a:xfrm>
            <a:off x="5346700" y="3340100"/>
            <a:ext cx="2209800" cy="246221"/>
          </a:xfrm>
          <a:prstGeom prst="rect">
            <a:avLst/>
          </a:prstGeom>
          <a:noFill/>
        </p:spPr>
        <p:txBody>
          <a:bodyPr vert="horz" wrap="square" lIns="0" tIns="0" rIns="0" bIns="0" rtlCol="0">
            <a:spAutoFit/>
          </a:bodyPr>
          <a:lstStyle/>
          <a:p>
            <a:pPr algn="ctr"/>
            <a:r>
              <a:rPr lang="en-US" sz="1600" b="1">
                <a:solidFill>
                  <a:srgbClr val="0F172A"/>
                </a:solidFill>
                <a:latin typeface="Aptos" panose="020B0004020202020204" pitchFamily="34" charset="0"/>
              </a:rPr>
              <a:t>Modular application</a:t>
            </a:r>
          </a:p>
        </p:txBody>
      </p:sp>
      <p:sp>
        <p:nvSpPr>
          <p:cNvPr id="21" name="Rectangle: Rounded Corners 20">
            <a:extLst>
              <a:ext uri="{FF2B5EF4-FFF2-40B4-BE49-F238E27FC236}">
                <a16:creationId xmlns:a16="http://schemas.microsoft.com/office/drawing/2014/main" id="{D4CB7190-1E15-3246-DFBF-78B6D8D40F32}"/>
              </a:ext>
            </a:extLst>
          </p:cNvPr>
          <p:cNvSpPr/>
          <p:nvPr/>
        </p:nvSpPr>
        <p:spPr>
          <a:xfrm>
            <a:off x="4953000" y="4343400"/>
            <a:ext cx="2997200" cy="6350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587EC07-B1C2-8E74-B795-8923879EB667}"/>
              </a:ext>
            </a:extLst>
          </p:cNvPr>
          <p:cNvSpPr txBox="1"/>
          <p:nvPr/>
        </p:nvSpPr>
        <p:spPr>
          <a:xfrm>
            <a:off x="5143500" y="4533900"/>
            <a:ext cx="2616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National relational database</a:t>
            </a:r>
          </a:p>
        </p:txBody>
      </p:sp>
      <p:cxnSp>
        <p:nvCxnSpPr>
          <p:cNvPr id="23" name="Straight Arrow Connector 22">
            <a:extLst>
              <a:ext uri="{FF2B5EF4-FFF2-40B4-BE49-F238E27FC236}">
                <a16:creationId xmlns:a16="http://schemas.microsoft.com/office/drawing/2014/main" id="{BB1C071D-FBDE-A6B2-E895-F296015C0E46}"/>
              </a:ext>
            </a:extLst>
          </p:cNvPr>
          <p:cNvCxnSpPr/>
          <p:nvPr/>
        </p:nvCxnSpPr>
        <p:spPr>
          <a:xfrm>
            <a:off x="6451600" y="2679700"/>
            <a:ext cx="0" cy="41910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46F4BAC-25B0-8359-98E8-D5F923C4A186}"/>
              </a:ext>
            </a:extLst>
          </p:cNvPr>
          <p:cNvCxnSpPr/>
          <p:nvPr/>
        </p:nvCxnSpPr>
        <p:spPr>
          <a:xfrm>
            <a:off x="6451600" y="3886200"/>
            <a:ext cx="0" cy="45720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B9FF635-AF6C-0998-F69F-1E65F4707E91}"/>
              </a:ext>
            </a:extLst>
          </p:cNvPr>
          <p:cNvSpPr txBox="1"/>
          <p:nvPr/>
        </p:nvSpPr>
        <p:spPr>
          <a:xfrm>
            <a:off x="9347200" y="1219200"/>
            <a:ext cx="1905000" cy="230832"/>
          </a:xfrm>
          <a:prstGeom prst="rect">
            <a:avLst/>
          </a:prstGeom>
          <a:noFill/>
        </p:spPr>
        <p:txBody>
          <a:bodyPr vert="horz" wrap="square" lIns="0" tIns="0" rIns="0" bIns="0" rtlCol="0">
            <a:spAutoFit/>
          </a:bodyPr>
          <a:lstStyle/>
          <a:p>
            <a:r>
              <a:rPr lang="en-US" sz="1500" b="1">
                <a:solidFill>
                  <a:srgbClr val="115E59"/>
                </a:solidFill>
                <a:latin typeface="Aptos" panose="020B0004020202020204" pitchFamily="34" charset="0"/>
              </a:rPr>
              <a:t>Partner systems</a:t>
            </a:r>
          </a:p>
        </p:txBody>
      </p:sp>
      <p:sp>
        <p:nvSpPr>
          <p:cNvPr id="26" name="Rectangle: Rounded Corners 25">
            <a:extLst>
              <a:ext uri="{FF2B5EF4-FFF2-40B4-BE49-F238E27FC236}">
                <a16:creationId xmlns:a16="http://schemas.microsoft.com/office/drawing/2014/main" id="{C63ED7B4-F460-60DF-9F12-D63EDE7B8BAC}"/>
              </a:ext>
            </a:extLst>
          </p:cNvPr>
          <p:cNvSpPr/>
          <p:nvPr/>
        </p:nvSpPr>
        <p:spPr>
          <a:xfrm>
            <a:off x="9271000" y="2057400"/>
            <a:ext cx="2082800" cy="8382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DDBFDF6-20F7-1E94-B63C-4E4349983BFF}"/>
              </a:ext>
            </a:extLst>
          </p:cNvPr>
          <p:cNvSpPr txBox="1"/>
          <p:nvPr/>
        </p:nvSpPr>
        <p:spPr>
          <a:xfrm>
            <a:off x="9448800" y="2336800"/>
            <a:ext cx="1727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Laboratory system</a:t>
            </a:r>
          </a:p>
        </p:txBody>
      </p:sp>
      <p:sp>
        <p:nvSpPr>
          <p:cNvPr id="28" name="Rectangle: Rounded Corners 27">
            <a:extLst>
              <a:ext uri="{FF2B5EF4-FFF2-40B4-BE49-F238E27FC236}">
                <a16:creationId xmlns:a16="http://schemas.microsoft.com/office/drawing/2014/main" id="{41EABC0F-66A1-192D-94E8-4332D5858D71}"/>
              </a:ext>
            </a:extLst>
          </p:cNvPr>
          <p:cNvSpPr/>
          <p:nvPr/>
        </p:nvSpPr>
        <p:spPr>
          <a:xfrm>
            <a:off x="9271000" y="3708400"/>
            <a:ext cx="2082800" cy="8382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80AAC5E-9BE3-9DFA-C488-C21156F7C35B}"/>
              </a:ext>
            </a:extLst>
          </p:cNvPr>
          <p:cNvSpPr txBox="1"/>
          <p:nvPr/>
        </p:nvSpPr>
        <p:spPr>
          <a:xfrm>
            <a:off x="9448800" y="3987800"/>
            <a:ext cx="1727200" cy="230832"/>
          </a:xfrm>
          <a:prstGeom prst="rect">
            <a:avLst/>
          </a:prstGeom>
          <a:noFill/>
        </p:spPr>
        <p:txBody>
          <a:bodyPr vert="horz" wrap="square" lIns="0" tIns="0" rIns="0" bIns="0" rtlCol="0">
            <a:spAutoFit/>
          </a:bodyPr>
          <a:lstStyle/>
          <a:p>
            <a:pPr algn="ctr"/>
            <a:r>
              <a:rPr lang="en-US" sz="1500" b="1">
                <a:solidFill>
                  <a:srgbClr val="0F172A"/>
                </a:solidFill>
                <a:latin typeface="Aptos" panose="020B0004020202020204" pitchFamily="34" charset="0"/>
              </a:rPr>
              <a:t>Reporting platform</a:t>
            </a:r>
          </a:p>
        </p:txBody>
      </p:sp>
      <p:cxnSp>
        <p:nvCxnSpPr>
          <p:cNvPr id="30" name="Straight Arrow Connector 29">
            <a:extLst>
              <a:ext uri="{FF2B5EF4-FFF2-40B4-BE49-F238E27FC236}">
                <a16:creationId xmlns:a16="http://schemas.microsoft.com/office/drawing/2014/main" id="{FF355CC7-657D-849D-80B7-9589759BE193}"/>
              </a:ext>
            </a:extLst>
          </p:cNvPr>
          <p:cNvCxnSpPr/>
          <p:nvPr/>
        </p:nvCxnSpPr>
        <p:spPr>
          <a:xfrm>
            <a:off x="3733800" y="3530600"/>
            <a:ext cx="711200" cy="0"/>
          </a:xfrm>
          <a:prstGeom prst="straightConnector1">
            <a:avLst/>
          </a:prstGeom>
          <a:ln w="3810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7DB5AD1-FFCF-9816-9C6B-C6C4CAF6263E}"/>
              </a:ext>
            </a:extLst>
          </p:cNvPr>
          <p:cNvCxnSpPr/>
          <p:nvPr/>
        </p:nvCxnSpPr>
        <p:spPr>
          <a:xfrm>
            <a:off x="8458200" y="2476500"/>
            <a:ext cx="812800" cy="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6DC141A-35BB-E280-70C7-71B2AC55DC5A}"/>
              </a:ext>
            </a:extLst>
          </p:cNvPr>
          <p:cNvCxnSpPr/>
          <p:nvPr/>
        </p:nvCxnSpPr>
        <p:spPr>
          <a:xfrm>
            <a:off x="8458200" y="4127500"/>
            <a:ext cx="812800" cy="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68A8A6D-84AA-7D38-6EF8-677F9DAB476C}"/>
              </a:ext>
            </a:extLst>
          </p:cNvPr>
          <p:cNvSpPr txBox="1"/>
          <p:nvPr/>
        </p:nvSpPr>
        <p:spPr>
          <a:xfrm>
            <a:off x="3556000" y="3309322"/>
            <a:ext cx="1193800" cy="153888"/>
          </a:xfrm>
          <a:prstGeom prst="rect">
            <a:avLst/>
          </a:prstGeom>
          <a:noFill/>
        </p:spPr>
        <p:txBody>
          <a:bodyPr vert="horz" wrap="square" lIns="0" tIns="0" rIns="0" bIns="0" rtlCol="0">
            <a:spAutoFit/>
          </a:bodyPr>
          <a:lstStyle/>
          <a:p>
            <a:pPr algn="ctr"/>
            <a:r>
              <a:rPr lang="en-US" sz="1000" dirty="0">
                <a:solidFill>
                  <a:srgbClr val="475569"/>
                </a:solidFill>
                <a:latin typeface="Aptos" panose="020B0004020202020204" pitchFamily="34" charset="0"/>
              </a:rPr>
              <a:t>HTTPS when online</a:t>
            </a:r>
          </a:p>
        </p:txBody>
      </p:sp>
      <p:sp>
        <p:nvSpPr>
          <p:cNvPr id="34" name="TextBox 33">
            <a:extLst>
              <a:ext uri="{FF2B5EF4-FFF2-40B4-BE49-F238E27FC236}">
                <a16:creationId xmlns:a16="http://schemas.microsoft.com/office/drawing/2014/main" id="{223C1F42-397C-05AB-C827-625EA038444D}"/>
              </a:ext>
            </a:extLst>
          </p:cNvPr>
          <p:cNvSpPr txBox="1"/>
          <p:nvPr/>
        </p:nvSpPr>
        <p:spPr>
          <a:xfrm>
            <a:off x="8864600" y="3015506"/>
            <a:ext cx="2413000" cy="153888"/>
          </a:xfrm>
          <a:prstGeom prst="rect">
            <a:avLst/>
          </a:prstGeom>
          <a:noFill/>
        </p:spPr>
        <p:txBody>
          <a:bodyPr vert="horz" wrap="square" lIns="0" tIns="0" rIns="0" bIns="0" rtlCol="0">
            <a:spAutoFit/>
          </a:bodyPr>
          <a:lstStyle/>
          <a:p>
            <a:pPr algn="ctr"/>
            <a:r>
              <a:rPr lang="en-US" sz="1000" dirty="0">
                <a:solidFill>
                  <a:srgbClr val="475569"/>
                </a:solidFill>
                <a:latin typeface="Aptos" panose="020B0004020202020204" pitchFamily="34" charset="0"/>
              </a:rPr>
              <a:t>asynchronous exchange</a:t>
            </a:r>
          </a:p>
        </p:txBody>
      </p:sp>
    </p:spTree>
    <p:extLst>
      <p:ext uri="{BB962C8B-B14F-4D97-AF65-F5344CB8AC3E}">
        <p14:creationId xmlns:p14="http://schemas.microsoft.com/office/powerpoint/2010/main" val="990673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23858-FDD1-7699-E2E1-72C428909A2E}"/>
              </a:ext>
            </a:extLst>
          </p:cNvPr>
          <p:cNvSpPr txBox="1"/>
          <p:nvPr/>
        </p:nvSpPr>
        <p:spPr>
          <a:xfrm>
            <a:off x="685800" y="355600"/>
            <a:ext cx="10414000" cy="430887"/>
          </a:xfrm>
          <a:prstGeom prst="rect">
            <a:avLst/>
          </a:prstGeom>
          <a:noFill/>
        </p:spPr>
        <p:txBody>
          <a:bodyPr vert="horz" wrap="square" lIns="0" tIns="0" rIns="0" bIns="0" rtlCol="0">
            <a:spAutoFit/>
          </a:bodyPr>
          <a:lstStyle/>
          <a:p>
            <a:r>
              <a:rPr lang="en-US" sz="2800" b="1">
                <a:solidFill>
                  <a:srgbClr val="0F172A"/>
                </a:solidFill>
                <a:latin typeface="Aptos" panose="020B0004020202020204" pitchFamily="34" charset="0"/>
              </a:rPr>
              <a:t>Working vertical slice</a:t>
            </a:r>
          </a:p>
        </p:txBody>
      </p:sp>
      <p:sp>
        <p:nvSpPr>
          <p:cNvPr id="3" name="TextBox 2">
            <a:extLst>
              <a:ext uri="{FF2B5EF4-FFF2-40B4-BE49-F238E27FC236}">
                <a16:creationId xmlns:a16="http://schemas.microsoft.com/office/drawing/2014/main" id="{D46F3972-19C0-4454-4B57-53681FC2E328}"/>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04</a:t>
            </a:r>
          </a:p>
        </p:txBody>
      </p:sp>
      <p:cxnSp>
        <p:nvCxnSpPr>
          <p:cNvPr id="4" name="Straight Arrow Connector 3">
            <a:extLst>
              <a:ext uri="{FF2B5EF4-FFF2-40B4-BE49-F238E27FC236}">
                <a16:creationId xmlns:a16="http://schemas.microsoft.com/office/drawing/2014/main" id="{C63BB4A6-7F66-8724-7BD1-79D82F6D7254}"/>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C0C517C8-73A7-475A-D81B-D5D960BC01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1308100"/>
            <a:ext cx="7493000" cy="4216400"/>
          </a:xfrm>
          <a:prstGeom prst="rect">
            <a:avLst/>
          </a:prstGeom>
        </p:spPr>
      </p:pic>
      <p:sp>
        <p:nvSpPr>
          <p:cNvPr id="7" name="TextBox 6">
            <a:extLst>
              <a:ext uri="{FF2B5EF4-FFF2-40B4-BE49-F238E27FC236}">
                <a16:creationId xmlns:a16="http://schemas.microsoft.com/office/drawing/2014/main" id="{A70AD698-B288-3C02-2CE0-3352D9636C7A}"/>
              </a:ext>
            </a:extLst>
          </p:cNvPr>
          <p:cNvSpPr txBox="1"/>
          <p:nvPr/>
        </p:nvSpPr>
        <p:spPr>
          <a:xfrm>
            <a:off x="8712200" y="14605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React + TypeScript</a:t>
            </a:r>
          </a:p>
        </p:txBody>
      </p:sp>
      <p:sp>
        <p:nvSpPr>
          <p:cNvPr id="8" name="TextBox 7">
            <a:extLst>
              <a:ext uri="{FF2B5EF4-FFF2-40B4-BE49-F238E27FC236}">
                <a16:creationId xmlns:a16="http://schemas.microsoft.com/office/drawing/2014/main" id="{813BA9F2-9534-07E3-EE00-0263F0029B6E}"/>
              </a:ext>
            </a:extLst>
          </p:cNvPr>
          <p:cNvSpPr txBox="1"/>
          <p:nvPr/>
        </p:nvSpPr>
        <p:spPr>
          <a:xfrm>
            <a:off x="8712200" y="1841500"/>
            <a:ext cx="2667000" cy="430887"/>
          </a:xfrm>
          <a:prstGeom prst="rect">
            <a:avLst/>
          </a:prstGeom>
          <a:noFill/>
        </p:spPr>
        <p:txBody>
          <a:bodyPr vert="horz" wrap="square" lIns="0" tIns="0" rIns="0" bIns="0" rtlCol="0">
            <a:spAutoFit/>
          </a:bodyPr>
          <a:lstStyle/>
          <a:p>
            <a:r>
              <a:rPr lang="en-GB" sz="1400">
                <a:solidFill>
                  <a:srgbClr val="475569"/>
                </a:solidFill>
                <a:latin typeface="Aptos" panose="020B0004020202020204" pitchFamily="34" charset="0"/>
              </a:rPr>
              <a:t>Typed service, explicit states and keyboard-operable filters</a:t>
            </a:r>
            <a:endParaRPr lang="en-US" sz="1400">
              <a:solidFill>
                <a:srgbClr val="475569"/>
              </a:solidFill>
              <a:latin typeface="Aptos" panose="020B0004020202020204" pitchFamily="34" charset="0"/>
            </a:endParaRPr>
          </a:p>
        </p:txBody>
      </p:sp>
      <p:sp>
        <p:nvSpPr>
          <p:cNvPr id="9" name="TextBox 8">
            <a:extLst>
              <a:ext uri="{FF2B5EF4-FFF2-40B4-BE49-F238E27FC236}">
                <a16:creationId xmlns:a16="http://schemas.microsoft.com/office/drawing/2014/main" id="{30670707-C536-3109-3651-921DC0DE31C3}"/>
              </a:ext>
            </a:extLst>
          </p:cNvPr>
          <p:cNvSpPr txBox="1"/>
          <p:nvPr/>
        </p:nvSpPr>
        <p:spPr>
          <a:xfrm>
            <a:off x="8712200" y="29083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.NET 8 API</a:t>
            </a:r>
          </a:p>
        </p:txBody>
      </p:sp>
      <p:sp>
        <p:nvSpPr>
          <p:cNvPr id="10" name="TextBox 9">
            <a:extLst>
              <a:ext uri="{FF2B5EF4-FFF2-40B4-BE49-F238E27FC236}">
                <a16:creationId xmlns:a16="http://schemas.microsoft.com/office/drawing/2014/main" id="{AA5A6806-479B-AB84-94F4-394E85E6A8BF}"/>
              </a:ext>
            </a:extLst>
          </p:cNvPr>
          <p:cNvSpPr txBox="1"/>
          <p:nvPr/>
        </p:nvSpPr>
        <p:spPr>
          <a:xfrm>
            <a:off x="8712200" y="3289300"/>
            <a:ext cx="2667000" cy="646331"/>
          </a:xfrm>
          <a:prstGeom prst="rect">
            <a:avLst/>
          </a:prstGeom>
          <a:noFill/>
        </p:spPr>
        <p:txBody>
          <a:bodyPr vert="horz" wrap="square" lIns="0" tIns="0" rIns="0" bIns="0" rtlCol="0">
            <a:spAutoFit/>
          </a:bodyPr>
          <a:lstStyle/>
          <a:p>
            <a:r>
              <a:rPr lang="en-US" sz="1400">
                <a:solidFill>
                  <a:srgbClr val="475569"/>
                </a:solidFill>
                <a:latin typeface="Aptos" panose="020B0004020202020204" pitchFamily="34" charset="0"/>
              </a:rPr>
              <a:t>Validation, access scope, correlation IDs and database pagination</a:t>
            </a:r>
          </a:p>
        </p:txBody>
      </p:sp>
      <p:sp>
        <p:nvSpPr>
          <p:cNvPr id="11" name="TextBox 10">
            <a:extLst>
              <a:ext uri="{FF2B5EF4-FFF2-40B4-BE49-F238E27FC236}">
                <a16:creationId xmlns:a16="http://schemas.microsoft.com/office/drawing/2014/main" id="{B326A225-E5DC-95CA-861B-24B600E0FAA4}"/>
              </a:ext>
            </a:extLst>
          </p:cNvPr>
          <p:cNvSpPr txBox="1"/>
          <p:nvPr/>
        </p:nvSpPr>
        <p:spPr>
          <a:xfrm>
            <a:off x="8712200" y="43561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SQLite</a:t>
            </a:r>
          </a:p>
        </p:txBody>
      </p:sp>
      <p:sp>
        <p:nvSpPr>
          <p:cNvPr id="12" name="TextBox 11">
            <a:extLst>
              <a:ext uri="{FF2B5EF4-FFF2-40B4-BE49-F238E27FC236}">
                <a16:creationId xmlns:a16="http://schemas.microsoft.com/office/drawing/2014/main" id="{D0D5E033-8A4C-B8D2-1A20-4CD5446D99A2}"/>
              </a:ext>
            </a:extLst>
          </p:cNvPr>
          <p:cNvSpPr txBox="1"/>
          <p:nvPr/>
        </p:nvSpPr>
        <p:spPr>
          <a:xfrm>
            <a:off x="8712200" y="4737100"/>
            <a:ext cx="2667000" cy="430887"/>
          </a:xfrm>
          <a:prstGeom prst="rect">
            <a:avLst/>
          </a:prstGeom>
          <a:noFill/>
        </p:spPr>
        <p:txBody>
          <a:bodyPr vert="horz" wrap="square" lIns="0" tIns="0" rIns="0" bIns="0" rtlCol="0">
            <a:spAutoFit/>
          </a:bodyPr>
          <a:lstStyle/>
          <a:p>
            <a:r>
              <a:rPr lang="en-US" sz="1400">
                <a:solidFill>
                  <a:srgbClr val="475569"/>
                </a:solidFill>
                <a:latin typeface="Aptos" panose="020B0004020202020204" pitchFamily="34" charset="0"/>
              </a:rPr>
              <a:t>Migration plus readable and assessment-scale seeders</a:t>
            </a:r>
          </a:p>
        </p:txBody>
      </p:sp>
      <p:sp>
        <p:nvSpPr>
          <p:cNvPr id="13" name="TextBox 12">
            <a:extLst>
              <a:ext uri="{FF2B5EF4-FFF2-40B4-BE49-F238E27FC236}">
                <a16:creationId xmlns:a16="http://schemas.microsoft.com/office/drawing/2014/main" id="{C3DCD8E2-9C20-C785-E306-1B44F8309918}"/>
              </a:ext>
            </a:extLst>
          </p:cNvPr>
          <p:cNvSpPr txBox="1"/>
          <p:nvPr/>
        </p:nvSpPr>
        <p:spPr>
          <a:xfrm>
            <a:off x="685800" y="5892800"/>
            <a:ext cx="1270000" cy="169277"/>
          </a:xfrm>
          <a:prstGeom prst="rect">
            <a:avLst/>
          </a:prstGeom>
          <a:noFill/>
        </p:spPr>
        <p:txBody>
          <a:bodyPr vert="horz" wrap="square" lIns="0" tIns="0" rIns="0" bIns="0" rtlCol="0">
            <a:spAutoFit/>
          </a:bodyPr>
          <a:lstStyle/>
          <a:p>
            <a:r>
              <a:rPr lang="en-US" sz="1100" b="1">
                <a:solidFill>
                  <a:srgbClr val="B91C1C"/>
                </a:solidFill>
                <a:latin typeface="Aptos" panose="020B0004020202020204" pitchFamily="34" charset="0"/>
              </a:rPr>
              <a:t>LIVE DEMO</a:t>
            </a:r>
          </a:p>
        </p:txBody>
      </p:sp>
      <p:sp>
        <p:nvSpPr>
          <p:cNvPr id="14" name="TextBox 13">
            <a:extLst>
              <a:ext uri="{FF2B5EF4-FFF2-40B4-BE49-F238E27FC236}">
                <a16:creationId xmlns:a16="http://schemas.microsoft.com/office/drawing/2014/main" id="{0BD9CAD9-C4F0-917F-9C3C-051DAC355437}"/>
              </a:ext>
            </a:extLst>
          </p:cNvPr>
          <p:cNvSpPr txBox="1"/>
          <p:nvPr/>
        </p:nvSpPr>
        <p:spPr>
          <a:xfrm>
            <a:off x="2032000" y="5854700"/>
            <a:ext cx="8382000" cy="215444"/>
          </a:xfrm>
          <a:prstGeom prst="rect">
            <a:avLst/>
          </a:prstGeom>
          <a:noFill/>
        </p:spPr>
        <p:txBody>
          <a:bodyPr vert="horz" wrap="square" lIns="0" tIns="0" rIns="0" bIns="0" rtlCol="0">
            <a:spAutoFit/>
          </a:bodyPr>
          <a:lstStyle/>
          <a:p>
            <a:r>
              <a:rPr lang="en-GB" sz="1400" b="1">
                <a:solidFill>
                  <a:srgbClr val="0F172A"/>
                </a:solidFill>
                <a:latin typeface="Aptos" panose="020B0004020202020204" pitchFamily="34" charset="0"/>
              </a:rPr>
              <a:t>Swagger authentication to boundary filters to React error/retry path</a:t>
            </a:r>
            <a:endParaRPr lang="en-US" sz="1400" b="1">
              <a:solidFill>
                <a:srgbClr val="0F172A"/>
              </a:solidFill>
              <a:latin typeface="Aptos" panose="020B0004020202020204" pitchFamily="34" charset="0"/>
            </a:endParaRPr>
          </a:p>
        </p:txBody>
      </p:sp>
    </p:spTree>
    <p:extLst>
      <p:ext uri="{BB962C8B-B14F-4D97-AF65-F5344CB8AC3E}">
        <p14:creationId xmlns:p14="http://schemas.microsoft.com/office/powerpoint/2010/main" val="1865673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BBB2C3-158A-5B1E-0780-8C5D37C1BA9C}"/>
              </a:ext>
            </a:extLst>
          </p:cNvPr>
          <p:cNvSpPr txBox="1"/>
          <p:nvPr/>
        </p:nvSpPr>
        <p:spPr>
          <a:xfrm>
            <a:off x="685800" y="355600"/>
            <a:ext cx="10414000" cy="430887"/>
          </a:xfrm>
          <a:prstGeom prst="rect">
            <a:avLst/>
          </a:prstGeom>
          <a:noFill/>
        </p:spPr>
        <p:txBody>
          <a:bodyPr vert="horz" wrap="square" lIns="0" tIns="0" rIns="0" bIns="0" rtlCol="0">
            <a:spAutoFit/>
          </a:bodyPr>
          <a:lstStyle/>
          <a:p>
            <a:r>
              <a:rPr lang="en-US" sz="2800" b="1">
                <a:solidFill>
                  <a:srgbClr val="0F172A"/>
                </a:solidFill>
                <a:latin typeface="Aptos" panose="020B0004020202020204" pitchFamily="34" charset="0"/>
              </a:rPr>
              <a:t>Engineering decisions and trade-offs</a:t>
            </a:r>
          </a:p>
        </p:txBody>
      </p:sp>
      <p:sp>
        <p:nvSpPr>
          <p:cNvPr id="3" name="TextBox 2">
            <a:extLst>
              <a:ext uri="{FF2B5EF4-FFF2-40B4-BE49-F238E27FC236}">
                <a16:creationId xmlns:a16="http://schemas.microsoft.com/office/drawing/2014/main" id="{83EDDBFB-F928-B209-F42D-7DF486D739D5}"/>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05</a:t>
            </a:r>
          </a:p>
        </p:txBody>
      </p:sp>
      <p:cxnSp>
        <p:nvCxnSpPr>
          <p:cNvPr id="4" name="Straight Arrow Connector 3">
            <a:extLst>
              <a:ext uri="{FF2B5EF4-FFF2-40B4-BE49-F238E27FC236}">
                <a16:creationId xmlns:a16="http://schemas.microsoft.com/office/drawing/2014/main" id="{46411FA8-CFCB-AECF-FDC2-79C79F6F457F}"/>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C4A2D8-2242-2ED9-C90D-DD26742CE738}"/>
              </a:ext>
            </a:extLst>
          </p:cNvPr>
          <p:cNvSpPr txBox="1"/>
          <p:nvPr/>
        </p:nvSpPr>
        <p:spPr>
          <a:xfrm>
            <a:off x="825500" y="14224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Modular monolith</a:t>
            </a:r>
          </a:p>
        </p:txBody>
      </p:sp>
      <p:sp>
        <p:nvSpPr>
          <p:cNvPr id="6" name="TextBox 5">
            <a:extLst>
              <a:ext uri="{FF2B5EF4-FFF2-40B4-BE49-F238E27FC236}">
                <a16:creationId xmlns:a16="http://schemas.microsoft.com/office/drawing/2014/main" id="{B41E3573-D8D3-A0CA-3538-34C984C4B3A9}"/>
              </a:ext>
            </a:extLst>
          </p:cNvPr>
          <p:cNvSpPr txBox="1"/>
          <p:nvPr/>
        </p:nvSpPr>
        <p:spPr>
          <a:xfrm>
            <a:off x="825500" y="17907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chosen</a:t>
            </a:r>
          </a:p>
        </p:txBody>
      </p:sp>
      <p:sp>
        <p:nvSpPr>
          <p:cNvPr id="7" name="TextBox 6">
            <a:extLst>
              <a:ext uri="{FF2B5EF4-FFF2-40B4-BE49-F238E27FC236}">
                <a16:creationId xmlns:a16="http://schemas.microsoft.com/office/drawing/2014/main" id="{707C77E1-0035-B717-D9EB-00B0C61C1026}"/>
              </a:ext>
            </a:extLst>
          </p:cNvPr>
          <p:cNvSpPr txBox="1"/>
          <p:nvPr/>
        </p:nvSpPr>
        <p:spPr>
          <a:xfrm>
            <a:off x="3860800" y="1422400"/>
            <a:ext cx="2349500" cy="230832"/>
          </a:xfrm>
          <a:prstGeom prst="rect">
            <a:avLst/>
          </a:prstGeom>
          <a:noFill/>
        </p:spPr>
        <p:txBody>
          <a:bodyPr vert="horz" wrap="square" lIns="0" tIns="0" rIns="0" bIns="0" rtlCol="0">
            <a:spAutoFit/>
          </a:bodyPr>
          <a:lstStyle/>
          <a:p>
            <a:r>
              <a:rPr lang="en-US" sz="1500" b="1">
                <a:solidFill>
                  <a:srgbClr val="B91C1C"/>
                </a:solidFill>
                <a:latin typeface="Aptos" panose="020B0004020202020204" pitchFamily="34" charset="0"/>
              </a:rPr>
              <a:t>Microservices</a:t>
            </a:r>
          </a:p>
        </p:txBody>
      </p:sp>
      <p:sp>
        <p:nvSpPr>
          <p:cNvPr id="8" name="TextBox 7">
            <a:extLst>
              <a:ext uri="{FF2B5EF4-FFF2-40B4-BE49-F238E27FC236}">
                <a16:creationId xmlns:a16="http://schemas.microsoft.com/office/drawing/2014/main" id="{CAAE3D39-F5B5-F08D-A7A3-33DF4E8CBEC3}"/>
              </a:ext>
            </a:extLst>
          </p:cNvPr>
          <p:cNvSpPr txBox="1"/>
          <p:nvPr/>
        </p:nvSpPr>
        <p:spPr>
          <a:xfrm>
            <a:off x="3860800" y="17907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alternative</a:t>
            </a:r>
          </a:p>
        </p:txBody>
      </p:sp>
      <p:sp>
        <p:nvSpPr>
          <p:cNvPr id="9" name="TextBox 8">
            <a:extLst>
              <a:ext uri="{FF2B5EF4-FFF2-40B4-BE49-F238E27FC236}">
                <a16:creationId xmlns:a16="http://schemas.microsoft.com/office/drawing/2014/main" id="{821D9C5C-CB0F-7D7D-AF1F-83DAE842AA01}"/>
              </a:ext>
            </a:extLst>
          </p:cNvPr>
          <p:cNvSpPr txBox="1"/>
          <p:nvPr/>
        </p:nvSpPr>
        <p:spPr>
          <a:xfrm>
            <a:off x="6642100" y="1397000"/>
            <a:ext cx="4699000" cy="430887"/>
          </a:xfrm>
          <a:prstGeom prst="rect">
            <a:avLst/>
          </a:prstGeom>
          <a:noFill/>
        </p:spPr>
        <p:txBody>
          <a:bodyPr vert="horz" wrap="square" lIns="0" tIns="0" rIns="0" bIns="0" rtlCol="0">
            <a:spAutoFit/>
          </a:bodyPr>
          <a:lstStyle/>
          <a:p>
            <a:r>
              <a:rPr lang="en-GB" sz="1400">
                <a:solidFill>
                  <a:srgbClr val="0F172A"/>
                </a:solidFill>
                <a:latin typeface="Aptos" panose="020B0004020202020204" pitchFamily="34" charset="0"/>
              </a:rPr>
              <a:t>Lower operational cost for a nine-engineer team; modules preserve a later extraction path.</a:t>
            </a:r>
            <a:endParaRPr lang="en-US" sz="1400">
              <a:solidFill>
                <a:srgbClr val="0F172A"/>
              </a:solidFill>
              <a:latin typeface="Aptos" panose="020B0004020202020204" pitchFamily="34" charset="0"/>
            </a:endParaRPr>
          </a:p>
        </p:txBody>
      </p:sp>
      <p:cxnSp>
        <p:nvCxnSpPr>
          <p:cNvPr id="10" name="Straight Arrow Connector 9">
            <a:extLst>
              <a:ext uri="{FF2B5EF4-FFF2-40B4-BE49-F238E27FC236}">
                <a16:creationId xmlns:a16="http://schemas.microsoft.com/office/drawing/2014/main" id="{CC18E4A4-E6C6-C482-AFD7-FF36F5895FAC}"/>
              </a:ext>
            </a:extLst>
          </p:cNvPr>
          <p:cNvCxnSpPr/>
          <p:nvPr/>
        </p:nvCxnSpPr>
        <p:spPr>
          <a:xfrm>
            <a:off x="825500" y="2311400"/>
            <a:ext cx="105410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ACBFBDC-8D3C-5D89-F3B6-32C8E097C586}"/>
              </a:ext>
            </a:extLst>
          </p:cNvPr>
          <p:cNvSpPr txBox="1"/>
          <p:nvPr/>
        </p:nvSpPr>
        <p:spPr>
          <a:xfrm>
            <a:off x="825500" y="26035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Local facility data</a:t>
            </a:r>
          </a:p>
        </p:txBody>
      </p:sp>
      <p:sp>
        <p:nvSpPr>
          <p:cNvPr id="12" name="TextBox 11">
            <a:extLst>
              <a:ext uri="{FF2B5EF4-FFF2-40B4-BE49-F238E27FC236}">
                <a16:creationId xmlns:a16="http://schemas.microsoft.com/office/drawing/2014/main" id="{62A74F24-2044-137B-0F5C-6C7C9B0C4DAB}"/>
              </a:ext>
            </a:extLst>
          </p:cNvPr>
          <p:cNvSpPr txBox="1"/>
          <p:nvPr/>
        </p:nvSpPr>
        <p:spPr>
          <a:xfrm>
            <a:off x="825500" y="29718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chosen</a:t>
            </a:r>
          </a:p>
        </p:txBody>
      </p:sp>
      <p:sp>
        <p:nvSpPr>
          <p:cNvPr id="13" name="TextBox 12">
            <a:extLst>
              <a:ext uri="{FF2B5EF4-FFF2-40B4-BE49-F238E27FC236}">
                <a16:creationId xmlns:a16="http://schemas.microsoft.com/office/drawing/2014/main" id="{B2841A04-AA62-BA1E-B77D-B637D3331D46}"/>
              </a:ext>
            </a:extLst>
          </p:cNvPr>
          <p:cNvSpPr txBox="1"/>
          <p:nvPr/>
        </p:nvSpPr>
        <p:spPr>
          <a:xfrm>
            <a:off x="3860800" y="2603500"/>
            <a:ext cx="2349500" cy="230832"/>
          </a:xfrm>
          <a:prstGeom prst="rect">
            <a:avLst/>
          </a:prstGeom>
          <a:noFill/>
        </p:spPr>
        <p:txBody>
          <a:bodyPr vert="horz" wrap="square" lIns="0" tIns="0" rIns="0" bIns="0" rtlCol="0">
            <a:spAutoFit/>
          </a:bodyPr>
          <a:lstStyle/>
          <a:p>
            <a:r>
              <a:rPr lang="en-US" sz="1500" b="1">
                <a:solidFill>
                  <a:srgbClr val="B91C1C"/>
                </a:solidFill>
                <a:latin typeface="Aptos" panose="020B0004020202020204" pitchFamily="34" charset="0"/>
              </a:rPr>
              <a:t>Online-only client</a:t>
            </a:r>
          </a:p>
        </p:txBody>
      </p:sp>
      <p:sp>
        <p:nvSpPr>
          <p:cNvPr id="14" name="TextBox 13">
            <a:extLst>
              <a:ext uri="{FF2B5EF4-FFF2-40B4-BE49-F238E27FC236}">
                <a16:creationId xmlns:a16="http://schemas.microsoft.com/office/drawing/2014/main" id="{7727C578-6723-3D19-EEA5-F37A7C1ADD6B}"/>
              </a:ext>
            </a:extLst>
          </p:cNvPr>
          <p:cNvSpPr txBox="1"/>
          <p:nvPr/>
        </p:nvSpPr>
        <p:spPr>
          <a:xfrm>
            <a:off x="3860800" y="29718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alternative</a:t>
            </a:r>
          </a:p>
        </p:txBody>
      </p:sp>
      <p:sp>
        <p:nvSpPr>
          <p:cNvPr id="15" name="TextBox 14">
            <a:extLst>
              <a:ext uri="{FF2B5EF4-FFF2-40B4-BE49-F238E27FC236}">
                <a16:creationId xmlns:a16="http://schemas.microsoft.com/office/drawing/2014/main" id="{34577AC8-02F8-AFA7-64F9-C55528BFE289}"/>
              </a:ext>
            </a:extLst>
          </p:cNvPr>
          <p:cNvSpPr txBox="1"/>
          <p:nvPr/>
        </p:nvSpPr>
        <p:spPr>
          <a:xfrm>
            <a:off x="6642100" y="2578100"/>
            <a:ext cx="4699000" cy="430887"/>
          </a:xfrm>
          <a:prstGeom prst="rect">
            <a:avLst/>
          </a:prstGeom>
          <a:noFill/>
        </p:spPr>
        <p:txBody>
          <a:bodyPr vert="horz" wrap="square" lIns="0" tIns="0" rIns="0" bIns="0" rtlCol="0">
            <a:spAutoFit/>
          </a:bodyPr>
          <a:lstStyle/>
          <a:p>
            <a:r>
              <a:rPr lang="en-GB" sz="1400">
                <a:solidFill>
                  <a:srgbClr val="0F172A"/>
                </a:solidFill>
                <a:latin typeface="Aptos" panose="020B0004020202020204" pitchFamily="34" charset="0"/>
              </a:rPr>
              <a:t>Clinic work continues during outages; sync and conflict handling become explicit responsibilities.</a:t>
            </a:r>
            <a:endParaRPr lang="en-US" sz="1400">
              <a:solidFill>
                <a:srgbClr val="0F172A"/>
              </a:solidFill>
              <a:latin typeface="Aptos" panose="020B0004020202020204" pitchFamily="34" charset="0"/>
            </a:endParaRPr>
          </a:p>
        </p:txBody>
      </p:sp>
      <p:cxnSp>
        <p:nvCxnSpPr>
          <p:cNvPr id="16" name="Straight Arrow Connector 15">
            <a:extLst>
              <a:ext uri="{FF2B5EF4-FFF2-40B4-BE49-F238E27FC236}">
                <a16:creationId xmlns:a16="http://schemas.microsoft.com/office/drawing/2014/main" id="{B452E343-1E71-24A5-47BB-66E0B69EABB8}"/>
              </a:ext>
            </a:extLst>
          </p:cNvPr>
          <p:cNvCxnSpPr/>
          <p:nvPr/>
        </p:nvCxnSpPr>
        <p:spPr>
          <a:xfrm>
            <a:off x="825500" y="3492500"/>
            <a:ext cx="105410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D78D546-D53F-4312-B2EF-E2C08FDC544B}"/>
              </a:ext>
            </a:extLst>
          </p:cNvPr>
          <p:cNvSpPr txBox="1"/>
          <p:nvPr/>
        </p:nvSpPr>
        <p:spPr>
          <a:xfrm>
            <a:off x="825500" y="37846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Database-side query</a:t>
            </a:r>
          </a:p>
        </p:txBody>
      </p:sp>
      <p:sp>
        <p:nvSpPr>
          <p:cNvPr id="18" name="TextBox 17">
            <a:extLst>
              <a:ext uri="{FF2B5EF4-FFF2-40B4-BE49-F238E27FC236}">
                <a16:creationId xmlns:a16="http://schemas.microsoft.com/office/drawing/2014/main" id="{2982EC91-38D0-4B44-0DB7-EF2D896F1948}"/>
              </a:ext>
            </a:extLst>
          </p:cNvPr>
          <p:cNvSpPr txBox="1"/>
          <p:nvPr/>
        </p:nvSpPr>
        <p:spPr>
          <a:xfrm>
            <a:off x="825500" y="41529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chosen</a:t>
            </a:r>
          </a:p>
        </p:txBody>
      </p:sp>
      <p:sp>
        <p:nvSpPr>
          <p:cNvPr id="19" name="TextBox 18">
            <a:extLst>
              <a:ext uri="{FF2B5EF4-FFF2-40B4-BE49-F238E27FC236}">
                <a16:creationId xmlns:a16="http://schemas.microsoft.com/office/drawing/2014/main" id="{D9178D42-8664-C362-CB1A-563A999B68A2}"/>
              </a:ext>
            </a:extLst>
          </p:cNvPr>
          <p:cNvSpPr txBox="1"/>
          <p:nvPr/>
        </p:nvSpPr>
        <p:spPr>
          <a:xfrm>
            <a:off x="3860800" y="3784600"/>
            <a:ext cx="2349500" cy="230832"/>
          </a:xfrm>
          <a:prstGeom prst="rect">
            <a:avLst/>
          </a:prstGeom>
          <a:noFill/>
        </p:spPr>
        <p:txBody>
          <a:bodyPr vert="horz" wrap="square" lIns="0" tIns="0" rIns="0" bIns="0" rtlCol="0">
            <a:spAutoFit/>
          </a:bodyPr>
          <a:lstStyle/>
          <a:p>
            <a:r>
              <a:rPr lang="en-GB" sz="1500" b="1">
                <a:solidFill>
                  <a:srgbClr val="B91C1C"/>
                </a:solidFill>
                <a:latin typeface="Aptos" panose="020B0004020202020204" pitchFamily="34" charset="0"/>
              </a:rPr>
              <a:t>Load then filter in C#</a:t>
            </a:r>
            <a:endParaRPr lang="en-US" sz="1500" b="1">
              <a:solidFill>
                <a:srgbClr val="B91C1C"/>
              </a:solidFill>
              <a:latin typeface="Aptos" panose="020B0004020202020204" pitchFamily="34" charset="0"/>
            </a:endParaRPr>
          </a:p>
        </p:txBody>
      </p:sp>
      <p:sp>
        <p:nvSpPr>
          <p:cNvPr id="20" name="TextBox 19">
            <a:extLst>
              <a:ext uri="{FF2B5EF4-FFF2-40B4-BE49-F238E27FC236}">
                <a16:creationId xmlns:a16="http://schemas.microsoft.com/office/drawing/2014/main" id="{4B968BE7-526D-432A-E67C-79FF64D3BAEE}"/>
              </a:ext>
            </a:extLst>
          </p:cNvPr>
          <p:cNvSpPr txBox="1"/>
          <p:nvPr/>
        </p:nvSpPr>
        <p:spPr>
          <a:xfrm>
            <a:off x="3860800" y="41529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alternative</a:t>
            </a:r>
          </a:p>
        </p:txBody>
      </p:sp>
      <p:sp>
        <p:nvSpPr>
          <p:cNvPr id="21" name="TextBox 20">
            <a:extLst>
              <a:ext uri="{FF2B5EF4-FFF2-40B4-BE49-F238E27FC236}">
                <a16:creationId xmlns:a16="http://schemas.microsoft.com/office/drawing/2014/main" id="{1ABB0793-78C5-DF80-201A-3AA4CDAE0408}"/>
              </a:ext>
            </a:extLst>
          </p:cNvPr>
          <p:cNvSpPr txBox="1"/>
          <p:nvPr/>
        </p:nvSpPr>
        <p:spPr>
          <a:xfrm>
            <a:off x="6642100" y="3759200"/>
            <a:ext cx="4699000" cy="430887"/>
          </a:xfrm>
          <a:prstGeom prst="rect">
            <a:avLst/>
          </a:prstGeom>
          <a:noFill/>
        </p:spPr>
        <p:txBody>
          <a:bodyPr vert="horz" wrap="square" lIns="0" tIns="0" rIns="0" bIns="0" rtlCol="0">
            <a:spAutoFit/>
          </a:bodyPr>
          <a:lstStyle/>
          <a:p>
            <a:r>
              <a:rPr lang="en-GB" sz="1400">
                <a:solidFill>
                  <a:srgbClr val="0F172A"/>
                </a:solidFill>
                <a:latin typeface="Aptos" panose="020B0004020202020204" pitchFamily="34" charset="0"/>
              </a:rPr>
              <a:t>Indexes, filters and pagination limit memory, bandwidth and records rendered in the browser.</a:t>
            </a:r>
            <a:endParaRPr lang="en-US" sz="1400">
              <a:solidFill>
                <a:srgbClr val="0F172A"/>
              </a:solidFill>
              <a:latin typeface="Aptos" panose="020B0004020202020204" pitchFamily="34" charset="0"/>
            </a:endParaRPr>
          </a:p>
        </p:txBody>
      </p:sp>
      <p:cxnSp>
        <p:nvCxnSpPr>
          <p:cNvPr id="22" name="Straight Arrow Connector 21">
            <a:extLst>
              <a:ext uri="{FF2B5EF4-FFF2-40B4-BE49-F238E27FC236}">
                <a16:creationId xmlns:a16="http://schemas.microsoft.com/office/drawing/2014/main" id="{846B72BF-F938-638A-8DC0-7B32D00FB4F4}"/>
              </a:ext>
            </a:extLst>
          </p:cNvPr>
          <p:cNvCxnSpPr/>
          <p:nvPr/>
        </p:nvCxnSpPr>
        <p:spPr>
          <a:xfrm>
            <a:off x="825500" y="4673600"/>
            <a:ext cx="105410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3F77183-21F6-0FE6-02C2-1C7F286ACB47}"/>
              </a:ext>
            </a:extLst>
          </p:cNvPr>
          <p:cNvSpPr txBox="1"/>
          <p:nvPr/>
        </p:nvSpPr>
        <p:spPr>
          <a:xfrm>
            <a:off x="825500" y="4965700"/>
            <a:ext cx="2667000" cy="261610"/>
          </a:xfrm>
          <a:prstGeom prst="rect">
            <a:avLst/>
          </a:prstGeom>
          <a:noFill/>
        </p:spPr>
        <p:txBody>
          <a:bodyPr vert="horz" wrap="square" lIns="0" tIns="0" rIns="0" bIns="0" rtlCol="0">
            <a:spAutoFit/>
          </a:bodyPr>
          <a:lstStyle/>
          <a:p>
            <a:r>
              <a:rPr lang="en-US" sz="1700" b="1">
                <a:solidFill>
                  <a:srgbClr val="115E59"/>
                </a:solidFill>
                <a:latin typeface="Aptos" panose="020B0004020202020204" pitchFamily="34" charset="0"/>
              </a:rPr>
              <a:t>Server access scope</a:t>
            </a:r>
          </a:p>
        </p:txBody>
      </p:sp>
      <p:sp>
        <p:nvSpPr>
          <p:cNvPr id="24" name="TextBox 23">
            <a:extLst>
              <a:ext uri="{FF2B5EF4-FFF2-40B4-BE49-F238E27FC236}">
                <a16:creationId xmlns:a16="http://schemas.microsoft.com/office/drawing/2014/main" id="{5667C051-479D-0B5B-78C1-87B014DA3C9F}"/>
              </a:ext>
            </a:extLst>
          </p:cNvPr>
          <p:cNvSpPr txBox="1"/>
          <p:nvPr/>
        </p:nvSpPr>
        <p:spPr>
          <a:xfrm>
            <a:off x="825500" y="53340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chosen</a:t>
            </a:r>
          </a:p>
        </p:txBody>
      </p:sp>
      <p:sp>
        <p:nvSpPr>
          <p:cNvPr id="25" name="TextBox 24">
            <a:extLst>
              <a:ext uri="{FF2B5EF4-FFF2-40B4-BE49-F238E27FC236}">
                <a16:creationId xmlns:a16="http://schemas.microsoft.com/office/drawing/2014/main" id="{1264A040-4599-143E-F031-F88C7450FD24}"/>
              </a:ext>
            </a:extLst>
          </p:cNvPr>
          <p:cNvSpPr txBox="1"/>
          <p:nvPr/>
        </p:nvSpPr>
        <p:spPr>
          <a:xfrm>
            <a:off x="3860800" y="4965700"/>
            <a:ext cx="2349500" cy="230832"/>
          </a:xfrm>
          <a:prstGeom prst="rect">
            <a:avLst/>
          </a:prstGeom>
          <a:noFill/>
        </p:spPr>
        <p:txBody>
          <a:bodyPr vert="horz" wrap="square" lIns="0" tIns="0" rIns="0" bIns="0" rtlCol="0">
            <a:spAutoFit/>
          </a:bodyPr>
          <a:lstStyle/>
          <a:p>
            <a:r>
              <a:rPr lang="en-US" sz="1500" b="1">
                <a:solidFill>
                  <a:srgbClr val="B91C1C"/>
                </a:solidFill>
                <a:latin typeface="Aptos" panose="020B0004020202020204" pitchFamily="34" charset="0"/>
              </a:rPr>
              <a:t>Hide facilities in React</a:t>
            </a:r>
          </a:p>
        </p:txBody>
      </p:sp>
      <p:sp>
        <p:nvSpPr>
          <p:cNvPr id="26" name="TextBox 25">
            <a:extLst>
              <a:ext uri="{FF2B5EF4-FFF2-40B4-BE49-F238E27FC236}">
                <a16:creationId xmlns:a16="http://schemas.microsoft.com/office/drawing/2014/main" id="{64299C2E-3760-1073-2C62-21E829019BD0}"/>
              </a:ext>
            </a:extLst>
          </p:cNvPr>
          <p:cNvSpPr txBox="1"/>
          <p:nvPr/>
        </p:nvSpPr>
        <p:spPr>
          <a:xfrm>
            <a:off x="3860800" y="5334000"/>
            <a:ext cx="889000" cy="153888"/>
          </a:xfrm>
          <a:prstGeom prst="rect">
            <a:avLst/>
          </a:prstGeom>
          <a:noFill/>
        </p:spPr>
        <p:txBody>
          <a:bodyPr vert="horz" wrap="square" lIns="0" tIns="0" rIns="0" bIns="0" rtlCol="0">
            <a:spAutoFit/>
          </a:bodyPr>
          <a:lstStyle/>
          <a:p>
            <a:r>
              <a:rPr lang="en-US" sz="1000" b="1">
                <a:solidFill>
                  <a:srgbClr val="475569"/>
                </a:solidFill>
                <a:latin typeface="Aptos" panose="020B0004020202020204" pitchFamily="34" charset="0"/>
              </a:rPr>
              <a:t>alternative</a:t>
            </a:r>
          </a:p>
        </p:txBody>
      </p:sp>
      <p:sp>
        <p:nvSpPr>
          <p:cNvPr id="27" name="TextBox 26">
            <a:extLst>
              <a:ext uri="{FF2B5EF4-FFF2-40B4-BE49-F238E27FC236}">
                <a16:creationId xmlns:a16="http://schemas.microsoft.com/office/drawing/2014/main" id="{AA1855E7-8770-6063-8363-8400D00E116E}"/>
              </a:ext>
            </a:extLst>
          </p:cNvPr>
          <p:cNvSpPr txBox="1"/>
          <p:nvPr/>
        </p:nvSpPr>
        <p:spPr>
          <a:xfrm>
            <a:off x="6642100" y="4940300"/>
            <a:ext cx="4699000" cy="430887"/>
          </a:xfrm>
          <a:prstGeom prst="rect">
            <a:avLst/>
          </a:prstGeom>
          <a:noFill/>
        </p:spPr>
        <p:txBody>
          <a:bodyPr vert="horz" wrap="square" lIns="0" tIns="0" rIns="0" bIns="0" rtlCol="0">
            <a:spAutoFit/>
          </a:bodyPr>
          <a:lstStyle/>
          <a:p>
            <a:r>
              <a:rPr lang="en-GB" sz="1400">
                <a:solidFill>
                  <a:srgbClr val="0F172A"/>
                </a:solidFill>
                <a:latin typeface="Aptos" panose="020B0004020202020204" pitchFamily="34" charset="0"/>
              </a:rPr>
              <a:t>API enforcement prevents a user bypassing the interface and requesting another facility directly.</a:t>
            </a:r>
            <a:endParaRPr lang="en-US" sz="1400">
              <a:solidFill>
                <a:srgbClr val="0F172A"/>
              </a:solidFill>
              <a:latin typeface="Aptos" panose="020B0004020202020204" pitchFamily="34" charset="0"/>
            </a:endParaRPr>
          </a:p>
        </p:txBody>
      </p:sp>
    </p:spTree>
    <p:extLst>
      <p:ext uri="{BB962C8B-B14F-4D97-AF65-F5344CB8AC3E}">
        <p14:creationId xmlns:p14="http://schemas.microsoft.com/office/powerpoint/2010/main" val="3721053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2A16A1-6253-3DF0-0388-CFA71E6C8940}"/>
              </a:ext>
            </a:extLst>
          </p:cNvPr>
          <p:cNvSpPr txBox="1"/>
          <p:nvPr/>
        </p:nvSpPr>
        <p:spPr>
          <a:xfrm>
            <a:off x="685800" y="355600"/>
            <a:ext cx="10414000" cy="430887"/>
          </a:xfrm>
          <a:prstGeom prst="rect">
            <a:avLst/>
          </a:prstGeom>
          <a:noFill/>
        </p:spPr>
        <p:txBody>
          <a:bodyPr vert="horz" wrap="square" lIns="0" tIns="0" rIns="0" bIns="0" rtlCol="0">
            <a:spAutoFit/>
          </a:bodyPr>
          <a:lstStyle/>
          <a:p>
            <a:r>
              <a:rPr lang="en-GB" sz="2800" b="1">
                <a:solidFill>
                  <a:srgbClr val="0F172A"/>
                </a:solidFill>
                <a:latin typeface="Aptos" panose="020B0004020202020204" pitchFamily="34" charset="0"/>
              </a:rPr>
              <a:t>Code review: changes required before merge</a:t>
            </a:r>
            <a:endParaRPr lang="en-US" sz="2800" b="1">
              <a:solidFill>
                <a:srgbClr val="0F172A"/>
              </a:solidFill>
              <a:latin typeface="Aptos" panose="020B0004020202020204" pitchFamily="34" charset="0"/>
            </a:endParaRPr>
          </a:p>
        </p:txBody>
      </p:sp>
      <p:sp>
        <p:nvSpPr>
          <p:cNvPr id="3" name="TextBox 2">
            <a:extLst>
              <a:ext uri="{FF2B5EF4-FFF2-40B4-BE49-F238E27FC236}">
                <a16:creationId xmlns:a16="http://schemas.microsoft.com/office/drawing/2014/main" id="{AC12EC71-D7A7-1FB8-2AF4-948B4EDA0B1C}"/>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06</a:t>
            </a:r>
          </a:p>
        </p:txBody>
      </p:sp>
      <p:cxnSp>
        <p:nvCxnSpPr>
          <p:cNvPr id="4" name="Straight Arrow Connector 3">
            <a:extLst>
              <a:ext uri="{FF2B5EF4-FFF2-40B4-BE49-F238E27FC236}">
                <a16:creationId xmlns:a16="http://schemas.microsoft.com/office/drawing/2014/main" id="{F11AA6C1-ED64-D398-424F-28E158E6A4A1}"/>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D9627A9-E5B2-6735-A7E5-3F4B590FDF0D}"/>
              </a:ext>
            </a:extLst>
          </p:cNvPr>
          <p:cNvSpPr txBox="1"/>
          <p:nvPr/>
        </p:nvSpPr>
        <p:spPr>
          <a:xfrm>
            <a:off x="965200" y="1600200"/>
            <a:ext cx="609600" cy="523220"/>
          </a:xfrm>
          <a:prstGeom prst="rect">
            <a:avLst/>
          </a:prstGeom>
          <a:noFill/>
        </p:spPr>
        <p:txBody>
          <a:bodyPr vert="horz" wrap="square" lIns="0" tIns="0" rIns="0" bIns="0" rtlCol="0">
            <a:spAutoFit/>
          </a:bodyPr>
          <a:lstStyle/>
          <a:p>
            <a:pPr algn="ctr"/>
            <a:r>
              <a:rPr lang="en-US" sz="3400" b="1">
                <a:solidFill>
                  <a:srgbClr val="B91C1C"/>
                </a:solidFill>
                <a:latin typeface="Aptos" panose="020B0004020202020204" pitchFamily="34" charset="0"/>
              </a:rPr>
              <a:t>1</a:t>
            </a:r>
          </a:p>
        </p:txBody>
      </p:sp>
      <p:sp>
        <p:nvSpPr>
          <p:cNvPr id="6" name="TextBox 5">
            <a:extLst>
              <a:ext uri="{FF2B5EF4-FFF2-40B4-BE49-F238E27FC236}">
                <a16:creationId xmlns:a16="http://schemas.microsoft.com/office/drawing/2014/main" id="{0286EB14-C3AF-E72F-68F6-946B02BB2319}"/>
              </a:ext>
            </a:extLst>
          </p:cNvPr>
          <p:cNvSpPr txBox="1"/>
          <p:nvPr/>
        </p:nvSpPr>
        <p:spPr>
          <a:xfrm>
            <a:off x="1828800" y="1600200"/>
            <a:ext cx="8890000" cy="307777"/>
          </a:xfrm>
          <a:prstGeom prst="rect">
            <a:avLst/>
          </a:prstGeom>
          <a:noFill/>
        </p:spPr>
        <p:txBody>
          <a:bodyPr vert="horz" wrap="square" lIns="0" tIns="0" rIns="0" bIns="0" rtlCol="0">
            <a:spAutoFit/>
          </a:bodyPr>
          <a:lstStyle/>
          <a:p>
            <a:r>
              <a:rPr lang="en-GB" sz="2000" b="1">
                <a:solidFill>
                  <a:srgbClr val="0F172A"/>
                </a:solidFill>
                <a:latin typeface="Aptos" panose="020B0004020202020204" pitchFamily="34" charset="0"/>
              </a:rPr>
              <a:t>SQL injection and embedded database credentials</a:t>
            </a:r>
            <a:endParaRPr lang="en-US" sz="2000" b="1">
              <a:solidFill>
                <a:srgbClr val="0F172A"/>
              </a:solidFill>
              <a:latin typeface="Aptos" panose="020B0004020202020204" pitchFamily="34" charset="0"/>
            </a:endParaRPr>
          </a:p>
        </p:txBody>
      </p:sp>
      <p:sp>
        <p:nvSpPr>
          <p:cNvPr id="7" name="TextBox 6">
            <a:extLst>
              <a:ext uri="{FF2B5EF4-FFF2-40B4-BE49-F238E27FC236}">
                <a16:creationId xmlns:a16="http://schemas.microsoft.com/office/drawing/2014/main" id="{BED9355F-8037-0695-A2E6-303892121365}"/>
              </a:ext>
            </a:extLst>
          </p:cNvPr>
          <p:cNvSpPr txBox="1"/>
          <p:nvPr/>
        </p:nvSpPr>
        <p:spPr>
          <a:xfrm>
            <a:off x="1828800" y="2082800"/>
            <a:ext cx="8890000" cy="230832"/>
          </a:xfrm>
          <a:prstGeom prst="rect">
            <a:avLst/>
          </a:prstGeom>
          <a:noFill/>
        </p:spPr>
        <p:txBody>
          <a:bodyPr vert="horz" wrap="square" lIns="0" tIns="0" rIns="0" bIns="0" rtlCol="0">
            <a:spAutoFit/>
          </a:bodyPr>
          <a:lstStyle/>
          <a:p>
            <a:r>
              <a:rPr lang="en-GB" sz="1500">
                <a:solidFill>
                  <a:srgbClr val="475569"/>
                </a:solidFill>
                <a:latin typeface="Aptos" panose="020B0004020202020204" pitchFamily="34" charset="0"/>
              </a:rPr>
              <a:t>Risk: cross-facility disclosure, data alteration and an unrotatable privileged secret.</a:t>
            </a:r>
            <a:endParaRPr lang="en-US" sz="1500">
              <a:solidFill>
                <a:srgbClr val="475569"/>
              </a:solidFill>
              <a:latin typeface="Aptos" panose="020B0004020202020204" pitchFamily="34" charset="0"/>
            </a:endParaRPr>
          </a:p>
        </p:txBody>
      </p:sp>
      <p:cxnSp>
        <p:nvCxnSpPr>
          <p:cNvPr id="8" name="Straight Arrow Connector 7">
            <a:extLst>
              <a:ext uri="{FF2B5EF4-FFF2-40B4-BE49-F238E27FC236}">
                <a16:creationId xmlns:a16="http://schemas.microsoft.com/office/drawing/2014/main" id="{47617AE8-BC3B-4E1D-AA3A-F2CAAF660AEF}"/>
              </a:ext>
            </a:extLst>
          </p:cNvPr>
          <p:cNvCxnSpPr/>
          <p:nvPr/>
        </p:nvCxnSpPr>
        <p:spPr>
          <a:xfrm>
            <a:off x="965200" y="2768600"/>
            <a:ext cx="102616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9D92D9B-4121-E213-C6C7-3EF684E170D5}"/>
              </a:ext>
            </a:extLst>
          </p:cNvPr>
          <p:cNvSpPr txBox="1"/>
          <p:nvPr/>
        </p:nvSpPr>
        <p:spPr>
          <a:xfrm>
            <a:off x="965200" y="3136900"/>
            <a:ext cx="609600" cy="523220"/>
          </a:xfrm>
          <a:prstGeom prst="rect">
            <a:avLst/>
          </a:prstGeom>
          <a:noFill/>
        </p:spPr>
        <p:txBody>
          <a:bodyPr vert="horz" wrap="square" lIns="0" tIns="0" rIns="0" bIns="0" rtlCol="0">
            <a:spAutoFit/>
          </a:bodyPr>
          <a:lstStyle/>
          <a:p>
            <a:pPr algn="ctr"/>
            <a:r>
              <a:rPr lang="en-US" sz="3400" b="1">
                <a:solidFill>
                  <a:srgbClr val="B91C1C"/>
                </a:solidFill>
                <a:latin typeface="Aptos" panose="020B0004020202020204" pitchFamily="34" charset="0"/>
              </a:rPr>
              <a:t>2</a:t>
            </a:r>
          </a:p>
        </p:txBody>
      </p:sp>
      <p:sp>
        <p:nvSpPr>
          <p:cNvPr id="10" name="TextBox 9">
            <a:extLst>
              <a:ext uri="{FF2B5EF4-FFF2-40B4-BE49-F238E27FC236}">
                <a16:creationId xmlns:a16="http://schemas.microsoft.com/office/drawing/2014/main" id="{DE8C5467-06A3-48E3-D7AB-D83F01246564}"/>
              </a:ext>
            </a:extLst>
          </p:cNvPr>
          <p:cNvSpPr txBox="1"/>
          <p:nvPr/>
        </p:nvSpPr>
        <p:spPr>
          <a:xfrm>
            <a:off x="1828800" y="3136900"/>
            <a:ext cx="8890000" cy="307777"/>
          </a:xfrm>
          <a:prstGeom prst="rect">
            <a:avLst/>
          </a:prstGeom>
          <a:noFill/>
        </p:spPr>
        <p:txBody>
          <a:bodyPr vert="horz" wrap="square" lIns="0" tIns="0" rIns="0" bIns="0" rtlCol="0">
            <a:spAutoFit/>
          </a:bodyPr>
          <a:lstStyle/>
          <a:p>
            <a:r>
              <a:rPr lang="en-GB" sz="2000" b="1">
                <a:solidFill>
                  <a:srgbClr val="0F172A"/>
                </a:solidFill>
                <a:latin typeface="Aptos" panose="020B0004020202020204" pitchFamily="34" charset="0"/>
              </a:rPr>
              <a:t>Facility and role supplied by the caller</a:t>
            </a:r>
            <a:endParaRPr lang="en-US" sz="2000" b="1">
              <a:solidFill>
                <a:srgbClr val="0F172A"/>
              </a:solidFill>
              <a:latin typeface="Aptos" panose="020B0004020202020204" pitchFamily="34" charset="0"/>
            </a:endParaRPr>
          </a:p>
        </p:txBody>
      </p:sp>
      <p:sp>
        <p:nvSpPr>
          <p:cNvPr id="11" name="TextBox 10">
            <a:extLst>
              <a:ext uri="{FF2B5EF4-FFF2-40B4-BE49-F238E27FC236}">
                <a16:creationId xmlns:a16="http://schemas.microsoft.com/office/drawing/2014/main" id="{437D5DC1-9CDD-6625-AEF8-3565AB26ADDE}"/>
              </a:ext>
            </a:extLst>
          </p:cNvPr>
          <p:cNvSpPr txBox="1"/>
          <p:nvPr/>
        </p:nvSpPr>
        <p:spPr>
          <a:xfrm>
            <a:off x="1828800" y="3619500"/>
            <a:ext cx="8890000" cy="230832"/>
          </a:xfrm>
          <a:prstGeom prst="rect">
            <a:avLst/>
          </a:prstGeom>
          <a:noFill/>
        </p:spPr>
        <p:txBody>
          <a:bodyPr vert="horz" wrap="square" lIns="0" tIns="0" rIns="0" bIns="0" rtlCol="0">
            <a:spAutoFit/>
          </a:bodyPr>
          <a:lstStyle/>
          <a:p>
            <a:r>
              <a:rPr lang="en-GB" sz="1500">
                <a:solidFill>
                  <a:srgbClr val="475569"/>
                </a:solidFill>
                <a:latin typeface="Aptos" panose="020B0004020202020204" pitchFamily="34" charset="0"/>
              </a:rPr>
              <a:t>Risk: a caller can request another facility unless the API uses verified claims and scope.</a:t>
            </a:r>
            <a:endParaRPr lang="en-US" sz="1500">
              <a:solidFill>
                <a:srgbClr val="475569"/>
              </a:solidFill>
              <a:latin typeface="Aptos" panose="020B0004020202020204" pitchFamily="34" charset="0"/>
            </a:endParaRPr>
          </a:p>
        </p:txBody>
      </p:sp>
      <p:cxnSp>
        <p:nvCxnSpPr>
          <p:cNvPr id="12" name="Straight Arrow Connector 11">
            <a:extLst>
              <a:ext uri="{FF2B5EF4-FFF2-40B4-BE49-F238E27FC236}">
                <a16:creationId xmlns:a16="http://schemas.microsoft.com/office/drawing/2014/main" id="{912A393C-10FD-47D0-7286-25D61942FDC0}"/>
              </a:ext>
            </a:extLst>
          </p:cNvPr>
          <p:cNvCxnSpPr/>
          <p:nvPr/>
        </p:nvCxnSpPr>
        <p:spPr>
          <a:xfrm>
            <a:off x="965200" y="4305300"/>
            <a:ext cx="102616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485B19F-AEE6-9E77-00EE-A8C79EABD2EB}"/>
              </a:ext>
            </a:extLst>
          </p:cNvPr>
          <p:cNvSpPr txBox="1"/>
          <p:nvPr/>
        </p:nvSpPr>
        <p:spPr>
          <a:xfrm>
            <a:off x="965200" y="4673600"/>
            <a:ext cx="609600" cy="523220"/>
          </a:xfrm>
          <a:prstGeom prst="rect">
            <a:avLst/>
          </a:prstGeom>
          <a:noFill/>
        </p:spPr>
        <p:txBody>
          <a:bodyPr vert="horz" wrap="square" lIns="0" tIns="0" rIns="0" bIns="0" rtlCol="0">
            <a:spAutoFit/>
          </a:bodyPr>
          <a:lstStyle/>
          <a:p>
            <a:pPr algn="ctr"/>
            <a:r>
              <a:rPr lang="en-US" sz="3400" b="1">
                <a:solidFill>
                  <a:srgbClr val="B91C1C"/>
                </a:solidFill>
                <a:latin typeface="Aptos" panose="020B0004020202020204" pitchFamily="34" charset="0"/>
              </a:rPr>
              <a:t>3</a:t>
            </a:r>
          </a:p>
        </p:txBody>
      </p:sp>
      <p:sp>
        <p:nvSpPr>
          <p:cNvPr id="14" name="TextBox 13">
            <a:extLst>
              <a:ext uri="{FF2B5EF4-FFF2-40B4-BE49-F238E27FC236}">
                <a16:creationId xmlns:a16="http://schemas.microsoft.com/office/drawing/2014/main" id="{DEEEEACC-3658-49FD-F29D-A53FC338122D}"/>
              </a:ext>
            </a:extLst>
          </p:cNvPr>
          <p:cNvSpPr txBox="1"/>
          <p:nvPr/>
        </p:nvSpPr>
        <p:spPr>
          <a:xfrm>
            <a:off x="1828800" y="4673600"/>
            <a:ext cx="8890000" cy="307777"/>
          </a:xfrm>
          <a:prstGeom prst="rect">
            <a:avLst/>
          </a:prstGeom>
          <a:noFill/>
        </p:spPr>
        <p:txBody>
          <a:bodyPr vert="horz" wrap="square" lIns="0" tIns="0" rIns="0" bIns="0" rtlCol="0">
            <a:spAutoFit/>
          </a:bodyPr>
          <a:lstStyle/>
          <a:p>
            <a:r>
              <a:rPr lang="en-GB" sz="2000" b="1">
                <a:solidFill>
                  <a:srgbClr val="0F172A"/>
                </a:solidFill>
                <a:latin typeface="Aptos" panose="020B0004020202020204" pitchFamily="34" charset="0"/>
              </a:rPr>
              <a:t>Partial writes and false success</a:t>
            </a:r>
            <a:endParaRPr lang="en-US" sz="2000" b="1">
              <a:solidFill>
                <a:srgbClr val="0F172A"/>
              </a:solidFill>
              <a:latin typeface="Aptos" panose="020B0004020202020204" pitchFamily="34" charset="0"/>
            </a:endParaRPr>
          </a:p>
        </p:txBody>
      </p:sp>
      <p:sp>
        <p:nvSpPr>
          <p:cNvPr id="15" name="TextBox 14">
            <a:extLst>
              <a:ext uri="{FF2B5EF4-FFF2-40B4-BE49-F238E27FC236}">
                <a16:creationId xmlns:a16="http://schemas.microsoft.com/office/drawing/2014/main" id="{31566870-A1AA-98B2-E1E0-F04026C3BB8E}"/>
              </a:ext>
            </a:extLst>
          </p:cNvPr>
          <p:cNvSpPr txBox="1"/>
          <p:nvPr/>
        </p:nvSpPr>
        <p:spPr>
          <a:xfrm>
            <a:off x="1828800" y="5156200"/>
            <a:ext cx="8890000" cy="230832"/>
          </a:xfrm>
          <a:prstGeom prst="rect">
            <a:avLst/>
          </a:prstGeom>
          <a:noFill/>
        </p:spPr>
        <p:txBody>
          <a:bodyPr vert="horz" wrap="square" lIns="0" tIns="0" rIns="0" bIns="0" rtlCol="0">
            <a:spAutoFit/>
          </a:bodyPr>
          <a:lstStyle/>
          <a:p>
            <a:r>
              <a:rPr lang="en-GB" sz="1500">
                <a:solidFill>
                  <a:srgbClr val="475569"/>
                </a:solidFill>
                <a:latin typeface="Aptos" panose="020B0004020202020204" pitchFamily="34" charset="0"/>
              </a:rPr>
              <a:t>Risk: staff believe an encounter or contact saved when the server rolled back or never received it.</a:t>
            </a:r>
            <a:endParaRPr lang="en-US" sz="1500">
              <a:solidFill>
                <a:srgbClr val="475569"/>
              </a:solidFill>
              <a:latin typeface="Aptos" panose="020B0004020202020204" pitchFamily="34" charset="0"/>
            </a:endParaRPr>
          </a:p>
        </p:txBody>
      </p:sp>
      <p:sp>
        <p:nvSpPr>
          <p:cNvPr id="16" name="Rectangle: Rounded Corners 15">
            <a:extLst>
              <a:ext uri="{FF2B5EF4-FFF2-40B4-BE49-F238E27FC236}">
                <a16:creationId xmlns:a16="http://schemas.microsoft.com/office/drawing/2014/main" id="{84319D2F-CF68-0EFD-2337-93015485A784}"/>
              </a:ext>
            </a:extLst>
          </p:cNvPr>
          <p:cNvSpPr/>
          <p:nvPr/>
        </p:nvSpPr>
        <p:spPr>
          <a:xfrm>
            <a:off x="1498600" y="5816600"/>
            <a:ext cx="9194800" cy="558800"/>
          </a:xfrm>
          <a:prstGeom prst="roundRect">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8671353-E6C5-0364-3ED0-9C5A32DBBF4C}"/>
              </a:ext>
            </a:extLst>
          </p:cNvPr>
          <p:cNvSpPr txBox="1"/>
          <p:nvPr/>
        </p:nvSpPr>
        <p:spPr>
          <a:xfrm>
            <a:off x="1752600" y="5981700"/>
            <a:ext cx="8686800" cy="200055"/>
          </a:xfrm>
          <a:prstGeom prst="rect">
            <a:avLst/>
          </a:prstGeom>
          <a:noFill/>
        </p:spPr>
        <p:txBody>
          <a:bodyPr vert="horz" wrap="square" lIns="0" tIns="0" rIns="0" bIns="0" rtlCol="0">
            <a:spAutoFit/>
          </a:bodyPr>
          <a:lstStyle/>
          <a:p>
            <a:pPr algn="ctr"/>
            <a:r>
              <a:rPr lang="en-GB" sz="1300" b="1">
                <a:solidFill>
                  <a:srgbClr val="115E59"/>
                </a:solidFill>
                <a:latin typeface="Aptos" panose="020B0004020202020204" pitchFamily="34" charset="0"/>
              </a:rPr>
              <a:t>Focused refactor: parameters + trusted identity + one transaction + visible failure</a:t>
            </a:r>
            <a:endParaRPr lang="en-US" sz="1300" b="1">
              <a:solidFill>
                <a:srgbClr val="115E59"/>
              </a:solidFill>
              <a:latin typeface="Aptos" panose="020B0004020202020204" pitchFamily="34" charset="0"/>
            </a:endParaRPr>
          </a:p>
        </p:txBody>
      </p:sp>
    </p:spTree>
    <p:extLst>
      <p:ext uri="{BB962C8B-B14F-4D97-AF65-F5344CB8AC3E}">
        <p14:creationId xmlns:p14="http://schemas.microsoft.com/office/powerpoint/2010/main" val="176424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C0D1AD-1071-A030-B68A-428E98ABDBA9}"/>
              </a:ext>
            </a:extLst>
          </p:cNvPr>
          <p:cNvSpPr txBox="1"/>
          <p:nvPr/>
        </p:nvSpPr>
        <p:spPr>
          <a:xfrm>
            <a:off x="685800" y="355600"/>
            <a:ext cx="10414000" cy="430887"/>
          </a:xfrm>
          <a:prstGeom prst="rect">
            <a:avLst/>
          </a:prstGeom>
          <a:noFill/>
        </p:spPr>
        <p:txBody>
          <a:bodyPr vert="horz" wrap="square" lIns="0" tIns="0" rIns="0" bIns="0" rtlCol="0">
            <a:spAutoFit/>
          </a:bodyPr>
          <a:lstStyle/>
          <a:p>
            <a:r>
              <a:rPr lang="en-GB" sz="2800" b="1">
                <a:solidFill>
                  <a:srgbClr val="0F172A"/>
                </a:solidFill>
                <a:latin typeface="Aptos" panose="020B0004020202020204" pitchFamily="34" charset="0"/>
              </a:rPr>
              <a:t>Offline replay and conflict handling</a:t>
            </a:r>
            <a:endParaRPr lang="en-US" sz="2800" b="1">
              <a:solidFill>
                <a:srgbClr val="0F172A"/>
              </a:solidFill>
              <a:latin typeface="Aptos" panose="020B0004020202020204" pitchFamily="34" charset="0"/>
            </a:endParaRPr>
          </a:p>
        </p:txBody>
      </p:sp>
      <p:sp>
        <p:nvSpPr>
          <p:cNvPr id="3" name="TextBox 2">
            <a:extLst>
              <a:ext uri="{FF2B5EF4-FFF2-40B4-BE49-F238E27FC236}">
                <a16:creationId xmlns:a16="http://schemas.microsoft.com/office/drawing/2014/main" id="{71470F1F-E872-90B2-3319-F7615D1FD072}"/>
              </a:ext>
            </a:extLst>
          </p:cNvPr>
          <p:cNvSpPr txBox="1"/>
          <p:nvPr/>
        </p:nvSpPr>
        <p:spPr>
          <a:xfrm>
            <a:off x="11176000" y="393700"/>
            <a:ext cx="355600" cy="169277"/>
          </a:xfrm>
          <a:prstGeom prst="rect">
            <a:avLst/>
          </a:prstGeom>
          <a:noFill/>
        </p:spPr>
        <p:txBody>
          <a:bodyPr vert="horz" wrap="square" lIns="0" tIns="0" rIns="0" bIns="0" rtlCol="0">
            <a:spAutoFit/>
          </a:bodyPr>
          <a:lstStyle/>
          <a:p>
            <a:pPr algn="r"/>
            <a:r>
              <a:rPr lang="en-US" sz="1100" b="1">
                <a:solidFill>
                  <a:srgbClr val="475569"/>
                </a:solidFill>
                <a:latin typeface="Aptos" panose="020B0004020202020204" pitchFamily="34" charset="0"/>
              </a:rPr>
              <a:t>07</a:t>
            </a:r>
          </a:p>
        </p:txBody>
      </p:sp>
      <p:cxnSp>
        <p:nvCxnSpPr>
          <p:cNvPr id="4" name="Straight Arrow Connector 3">
            <a:extLst>
              <a:ext uri="{FF2B5EF4-FFF2-40B4-BE49-F238E27FC236}">
                <a16:creationId xmlns:a16="http://schemas.microsoft.com/office/drawing/2014/main" id="{EBC2A507-1734-B412-82BD-A526567D8112}"/>
              </a:ext>
            </a:extLst>
          </p:cNvPr>
          <p:cNvCxnSpPr/>
          <p:nvPr/>
        </p:nvCxnSpPr>
        <p:spPr>
          <a:xfrm>
            <a:off x="685800" y="965200"/>
            <a:ext cx="10820400" cy="0"/>
          </a:xfrm>
          <a:prstGeom prst="straightConnector1">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4FF13D67-8CD4-36BB-5A5A-846FD408E1FC}"/>
              </a:ext>
            </a:extLst>
          </p:cNvPr>
          <p:cNvSpPr/>
          <p:nvPr/>
        </p:nvSpPr>
        <p:spPr>
          <a:xfrm>
            <a:off x="736600" y="1676400"/>
            <a:ext cx="584200" cy="5842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FF9A161-7545-3D04-9C9A-E2432BEBEFFC}"/>
              </a:ext>
            </a:extLst>
          </p:cNvPr>
          <p:cNvSpPr txBox="1"/>
          <p:nvPr/>
        </p:nvSpPr>
        <p:spPr>
          <a:xfrm>
            <a:off x="889000" y="1848307"/>
            <a:ext cx="279400" cy="215444"/>
          </a:xfrm>
          <a:prstGeom prst="rect">
            <a:avLst/>
          </a:prstGeom>
          <a:noFill/>
        </p:spPr>
        <p:txBody>
          <a:bodyPr vert="horz" wrap="square" lIns="0" tIns="0" rIns="0" bIns="0" rtlCol="0">
            <a:spAutoFit/>
          </a:bodyPr>
          <a:lstStyle/>
          <a:p>
            <a:pPr algn="ctr"/>
            <a:r>
              <a:rPr lang="en-US" sz="1400" b="1" dirty="0">
                <a:solidFill>
                  <a:srgbClr val="FFFFFF"/>
                </a:solidFill>
                <a:latin typeface="Aptos" panose="020B0004020202020204" pitchFamily="34" charset="0"/>
              </a:rPr>
              <a:t>1</a:t>
            </a:r>
          </a:p>
        </p:txBody>
      </p:sp>
      <p:cxnSp>
        <p:nvCxnSpPr>
          <p:cNvPr id="7" name="Straight Arrow Connector 6">
            <a:extLst>
              <a:ext uri="{FF2B5EF4-FFF2-40B4-BE49-F238E27FC236}">
                <a16:creationId xmlns:a16="http://schemas.microsoft.com/office/drawing/2014/main" id="{426E050A-6483-E4BB-B5DF-653284E9971C}"/>
              </a:ext>
            </a:extLst>
          </p:cNvPr>
          <p:cNvCxnSpPr/>
          <p:nvPr/>
        </p:nvCxnSpPr>
        <p:spPr>
          <a:xfrm>
            <a:off x="1371600" y="1968500"/>
            <a:ext cx="21336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65009AD-2701-F003-2DC4-AF90AF139DB3}"/>
              </a:ext>
            </a:extLst>
          </p:cNvPr>
          <p:cNvSpPr txBox="1"/>
          <p:nvPr/>
        </p:nvSpPr>
        <p:spPr>
          <a:xfrm>
            <a:off x="482600" y="2603500"/>
            <a:ext cx="2032000" cy="261610"/>
          </a:xfrm>
          <a:prstGeom prst="rect">
            <a:avLst/>
          </a:prstGeom>
          <a:noFill/>
        </p:spPr>
        <p:txBody>
          <a:bodyPr vert="horz" wrap="square" lIns="0" tIns="0" rIns="0" bIns="0" rtlCol="0">
            <a:spAutoFit/>
          </a:bodyPr>
          <a:lstStyle/>
          <a:p>
            <a:r>
              <a:rPr lang="en-US" sz="1700" b="1">
                <a:solidFill>
                  <a:srgbClr val="0F172A"/>
                </a:solidFill>
                <a:latin typeface="Aptos" panose="020B0004020202020204" pitchFamily="34" charset="0"/>
              </a:rPr>
              <a:t>Save locally</a:t>
            </a:r>
          </a:p>
        </p:txBody>
      </p:sp>
      <p:sp>
        <p:nvSpPr>
          <p:cNvPr id="9" name="TextBox 8">
            <a:extLst>
              <a:ext uri="{FF2B5EF4-FFF2-40B4-BE49-F238E27FC236}">
                <a16:creationId xmlns:a16="http://schemas.microsoft.com/office/drawing/2014/main" id="{C9A50F42-5D3C-DD7D-DB8B-E8F063E66B50}"/>
              </a:ext>
            </a:extLst>
          </p:cNvPr>
          <p:cNvSpPr txBox="1"/>
          <p:nvPr/>
        </p:nvSpPr>
        <p:spPr>
          <a:xfrm>
            <a:off x="482600" y="3048000"/>
            <a:ext cx="2235200" cy="646331"/>
          </a:xfrm>
          <a:prstGeom prst="rect">
            <a:avLst/>
          </a:prstGeom>
          <a:noFill/>
        </p:spPr>
        <p:txBody>
          <a:bodyPr vert="horz" wrap="square" lIns="0" tIns="0" rIns="0" bIns="0" rtlCol="0">
            <a:spAutoFit/>
          </a:bodyPr>
          <a:lstStyle/>
          <a:p>
            <a:r>
              <a:rPr lang="en-GB" sz="1400">
                <a:solidFill>
                  <a:srgbClr val="475569"/>
                </a:solidFill>
                <a:latin typeface="Aptos" panose="020B0004020202020204" pitchFamily="34" charset="0"/>
              </a:rPr>
              <a:t>Persist the action and a stable operation ID before showing local success.</a:t>
            </a:r>
            <a:endParaRPr lang="en-US" sz="1400">
              <a:solidFill>
                <a:srgbClr val="475569"/>
              </a:solidFill>
              <a:latin typeface="Aptos" panose="020B0004020202020204" pitchFamily="34" charset="0"/>
            </a:endParaRPr>
          </a:p>
        </p:txBody>
      </p:sp>
      <p:sp>
        <p:nvSpPr>
          <p:cNvPr id="10" name="Oval 9">
            <a:extLst>
              <a:ext uri="{FF2B5EF4-FFF2-40B4-BE49-F238E27FC236}">
                <a16:creationId xmlns:a16="http://schemas.microsoft.com/office/drawing/2014/main" id="{45A71683-AEB0-B903-1521-DF3B44B11308}"/>
              </a:ext>
            </a:extLst>
          </p:cNvPr>
          <p:cNvSpPr/>
          <p:nvPr/>
        </p:nvSpPr>
        <p:spPr>
          <a:xfrm>
            <a:off x="3606800" y="1676400"/>
            <a:ext cx="584200" cy="5842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93BE44B-40E3-E99D-1855-9BFE7BA51CCB}"/>
              </a:ext>
            </a:extLst>
          </p:cNvPr>
          <p:cNvSpPr txBox="1"/>
          <p:nvPr/>
        </p:nvSpPr>
        <p:spPr>
          <a:xfrm>
            <a:off x="3759200" y="1848307"/>
            <a:ext cx="279400" cy="215444"/>
          </a:xfrm>
          <a:prstGeom prst="rect">
            <a:avLst/>
          </a:prstGeom>
          <a:noFill/>
        </p:spPr>
        <p:txBody>
          <a:bodyPr vert="horz" wrap="square" lIns="0" tIns="0" rIns="0" bIns="0" rtlCol="0">
            <a:spAutoFit/>
          </a:bodyPr>
          <a:lstStyle/>
          <a:p>
            <a:pPr algn="ctr"/>
            <a:r>
              <a:rPr lang="en-US" sz="1400" b="1" dirty="0">
                <a:solidFill>
                  <a:srgbClr val="FFFFFF"/>
                </a:solidFill>
                <a:latin typeface="Aptos" panose="020B0004020202020204" pitchFamily="34" charset="0"/>
              </a:rPr>
              <a:t>2</a:t>
            </a:r>
          </a:p>
        </p:txBody>
      </p:sp>
      <p:cxnSp>
        <p:nvCxnSpPr>
          <p:cNvPr id="12" name="Straight Arrow Connector 11">
            <a:extLst>
              <a:ext uri="{FF2B5EF4-FFF2-40B4-BE49-F238E27FC236}">
                <a16:creationId xmlns:a16="http://schemas.microsoft.com/office/drawing/2014/main" id="{713FDF84-0E81-9C96-FF64-50596841AD54}"/>
              </a:ext>
            </a:extLst>
          </p:cNvPr>
          <p:cNvCxnSpPr/>
          <p:nvPr/>
        </p:nvCxnSpPr>
        <p:spPr>
          <a:xfrm>
            <a:off x="4241800" y="1968500"/>
            <a:ext cx="21336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6D55FB8-FA04-372B-C8C9-251F9100ADF5}"/>
              </a:ext>
            </a:extLst>
          </p:cNvPr>
          <p:cNvSpPr txBox="1"/>
          <p:nvPr/>
        </p:nvSpPr>
        <p:spPr>
          <a:xfrm>
            <a:off x="3352800" y="2603500"/>
            <a:ext cx="2032000" cy="261610"/>
          </a:xfrm>
          <a:prstGeom prst="rect">
            <a:avLst/>
          </a:prstGeom>
          <a:noFill/>
        </p:spPr>
        <p:txBody>
          <a:bodyPr vert="horz" wrap="square" lIns="0" tIns="0" rIns="0" bIns="0" rtlCol="0">
            <a:spAutoFit/>
          </a:bodyPr>
          <a:lstStyle/>
          <a:p>
            <a:r>
              <a:rPr lang="en-US" sz="1700" b="1">
                <a:solidFill>
                  <a:srgbClr val="0F172A"/>
                </a:solidFill>
                <a:latin typeface="Aptos" panose="020B0004020202020204" pitchFamily="34" charset="0"/>
              </a:rPr>
              <a:t>Replay safely</a:t>
            </a:r>
          </a:p>
        </p:txBody>
      </p:sp>
      <p:sp>
        <p:nvSpPr>
          <p:cNvPr id="14" name="TextBox 13">
            <a:extLst>
              <a:ext uri="{FF2B5EF4-FFF2-40B4-BE49-F238E27FC236}">
                <a16:creationId xmlns:a16="http://schemas.microsoft.com/office/drawing/2014/main" id="{DE2CF1BD-94D5-95F1-8CB9-1215250F3FB6}"/>
              </a:ext>
            </a:extLst>
          </p:cNvPr>
          <p:cNvSpPr txBox="1"/>
          <p:nvPr/>
        </p:nvSpPr>
        <p:spPr>
          <a:xfrm>
            <a:off x="3352800" y="3048000"/>
            <a:ext cx="2235200" cy="646331"/>
          </a:xfrm>
          <a:prstGeom prst="rect">
            <a:avLst/>
          </a:prstGeom>
          <a:noFill/>
        </p:spPr>
        <p:txBody>
          <a:bodyPr vert="horz" wrap="square" lIns="0" tIns="0" rIns="0" bIns="0" rtlCol="0">
            <a:spAutoFit/>
          </a:bodyPr>
          <a:lstStyle/>
          <a:p>
            <a:r>
              <a:rPr lang="en-GB" sz="1400">
                <a:solidFill>
                  <a:srgbClr val="475569"/>
                </a:solidFill>
                <a:latin typeface="Aptos" panose="020B0004020202020204" pitchFamily="34" charset="0"/>
              </a:rPr>
              <a:t>Retries reuse the same ID. The server processes each operation once.</a:t>
            </a:r>
            <a:endParaRPr lang="en-US" sz="1400">
              <a:solidFill>
                <a:srgbClr val="475569"/>
              </a:solidFill>
              <a:latin typeface="Aptos" panose="020B0004020202020204" pitchFamily="34" charset="0"/>
            </a:endParaRPr>
          </a:p>
        </p:txBody>
      </p:sp>
      <p:sp>
        <p:nvSpPr>
          <p:cNvPr id="15" name="Oval 14">
            <a:extLst>
              <a:ext uri="{FF2B5EF4-FFF2-40B4-BE49-F238E27FC236}">
                <a16:creationId xmlns:a16="http://schemas.microsoft.com/office/drawing/2014/main" id="{078A232A-5F3C-97F5-129D-56686C27F86E}"/>
              </a:ext>
            </a:extLst>
          </p:cNvPr>
          <p:cNvSpPr/>
          <p:nvPr/>
        </p:nvSpPr>
        <p:spPr>
          <a:xfrm>
            <a:off x="6477000" y="1676400"/>
            <a:ext cx="584200" cy="5842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C7A72BE-3F73-E762-0C54-39572775CB1D}"/>
              </a:ext>
            </a:extLst>
          </p:cNvPr>
          <p:cNvSpPr txBox="1"/>
          <p:nvPr/>
        </p:nvSpPr>
        <p:spPr>
          <a:xfrm>
            <a:off x="6629400" y="1860778"/>
            <a:ext cx="279400" cy="215444"/>
          </a:xfrm>
          <a:prstGeom prst="rect">
            <a:avLst/>
          </a:prstGeom>
          <a:noFill/>
        </p:spPr>
        <p:txBody>
          <a:bodyPr vert="horz" wrap="square" lIns="0" tIns="0" rIns="0" bIns="0" rtlCol="0">
            <a:spAutoFit/>
          </a:bodyPr>
          <a:lstStyle/>
          <a:p>
            <a:pPr algn="ctr"/>
            <a:r>
              <a:rPr lang="en-US" sz="1400" b="1" dirty="0">
                <a:solidFill>
                  <a:srgbClr val="FFFFFF"/>
                </a:solidFill>
                <a:latin typeface="Aptos" panose="020B0004020202020204" pitchFamily="34" charset="0"/>
              </a:rPr>
              <a:t>3</a:t>
            </a:r>
          </a:p>
        </p:txBody>
      </p:sp>
      <p:cxnSp>
        <p:nvCxnSpPr>
          <p:cNvPr id="17" name="Straight Arrow Connector 16">
            <a:extLst>
              <a:ext uri="{FF2B5EF4-FFF2-40B4-BE49-F238E27FC236}">
                <a16:creationId xmlns:a16="http://schemas.microsoft.com/office/drawing/2014/main" id="{C5CD2F76-DA09-7201-2547-BB984F682FED}"/>
              </a:ext>
            </a:extLst>
          </p:cNvPr>
          <p:cNvCxnSpPr/>
          <p:nvPr/>
        </p:nvCxnSpPr>
        <p:spPr>
          <a:xfrm>
            <a:off x="7112000" y="1968500"/>
            <a:ext cx="2133600" cy="0"/>
          </a:xfrm>
          <a:prstGeom prst="straightConnector1">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B244166-899B-E021-2EF3-C59F77AC443C}"/>
              </a:ext>
            </a:extLst>
          </p:cNvPr>
          <p:cNvSpPr txBox="1"/>
          <p:nvPr/>
        </p:nvSpPr>
        <p:spPr>
          <a:xfrm>
            <a:off x="6223000" y="2603500"/>
            <a:ext cx="2032000" cy="261610"/>
          </a:xfrm>
          <a:prstGeom prst="rect">
            <a:avLst/>
          </a:prstGeom>
          <a:noFill/>
        </p:spPr>
        <p:txBody>
          <a:bodyPr vert="horz" wrap="square" lIns="0" tIns="0" rIns="0" bIns="0" rtlCol="0">
            <a:spAutoFit/>
          </a:bodyPr>
          <a:lstStyle/>
          <a:p>
            <a:r>
              <a:rPr lang="en-US" sz="1700" b="1">
                <a:solidFill>
                  <a:srgbClr val="0F172A"/>
                </a:solidFill>
                <a:latin typeface="Aptos" panose="020B0004020202020204" pitchFamily="34" charset="0"/>
              </a:rPr>
              <a:t>Acknowledge</a:t>
            </a:r>
          </a:p>
        </p:txBody>
      </p:sp>
      <p:sp>
        <p:nvSpPr>
          <p:cNvPr id="19" name="TextBox 18">
            <a:extLst>
              <a:ext uri="{FF2B5EF4-FFF2-40B4-BE49-F238E27FC236}">
                <a16:creationId xmlns:a16="http://schemas.microsoft.com/office/drawing/2014/main" id="{AF143CF0-4910-83B5-6A78-D34D97E17629}"/>
              </a:ext>
            </a:extLst>
          </p:cNvPr>
          <p:cNvSpPr txBox="1"/>
          <p:nvPr/>
        </p:nvSpPr>
        <p:spPr>
          <a:xfrm>
            <a:off x="6223000" y="3048000"/>
            <a:ext cx="2235200" cy="861774"/>
          </a:xfrm>
          <a:prstGeom prst="rect">
            <a:avLst/>
          </a:prstGeom>
          <a:noFill/>
        </p:spPr>
        <p:txBody>
          <a:bodyPr vert="horz" wrap="square" lIns="0" tIns="0" rIns="0" bIns="0" rtlCol="0">
            <a:spAutoFit/>
          </a:bodyPr>
          <a:lstStyle/>
          <a:p>
            <a:r>
              <a:rPr lang="en-GB" sz="1400">
                <a:solidFill>
                  <a:srgbClr val="475569"/>
                </a:solidFill>
                <a:latin typeface="Aptos" panose="020B0004020202020204" pitchFamily="34" charset="0"/>
              </a:rPr>
              <a:t>Only acknowledged items leave the queue; partial batches resume from a checkpoint.</a:t>
            </a:r>
            <a:endParaRPr lang="en-US" sz="1400">
              <a:solidFill>
                <a:srgbClr val="475569"/>
              </a:solidFill>
              <a:latin typeface="Aptos" panose="020B0004020202020204" pitchFamily="34" charset="0"/>
            </a:endParaRPr>
          </a:p>
        </p:txBody>
      </p:sp>
      <p:sp>
        <p:nvSpPr>
          <p:cNvPr id="20" name="Oval 19">
            <a:extLst>
              <a:ext uri="{FF2B5EF4-FFF2-40B4-BE49-F238E27FC236}">
                <a16:creationId xmlns:a16="http://schemas.microsoft.com/office/drawing/2014/main" id="{B8800F43-3C6A-29E2-8185-F32091805F7A}"/>
              </a:ext>
            </a:extLst>
          </p:cNvPr>
          <p:cNvSpPr/>
          <p:nvPr/>
        </p:nvSpPr>
        <p:spPr>
          <a:xfrm>
            <a:off x="9347200" y="1676400"/>
            <a:ext cx="584200" cy="5842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50101DE-06F8-571E-08DB-1AC45C39C168}"/>
              </a:ext>
            </a:extLst>
          </p:cNvPr>
          <p:cNvSpPr txBox="1"/>
          <p:nvPr/>
        </p:nvSpPr>
        <p:spPr>
          <a:xfrm>
            <a:off x="9499600" y="1848307"/>
            <a:ext cx="279400" cy="215444"/>
          </a:xfrm>
          <a:prstGeom prst="rect">
            <a:avLst/>
          </a:prstGeom>
          <a:noFill/>
        </p:spPr>
        <p:txBody>
          <a:bodyPr vert="horz" wrap="square" lIns="0" tIns="0" rIns="0" bIns="0" rtlCol="0">
            <a:spAutoFit/>
          </a:bodyPr>
          <a:lstStyle/>
          <a:p>
            <a:pPr algn="ctr"/>
            <a:r>
              <a:rPr lang="en-US" sz="1400" b="1" dirty="0">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103BEAF8-2C93-D441-9643-6BC66FF92A23}"/>
              </a:ext>
            </a:extLst>
          </p:cNvPr>
          <p:cNvSpPr txBox="1"/>
          <p:nvPr/>
        </p:nvSpPr>
        <p:spPr>
          <a:xfrm>
            <a:off x="9093200" y="2603500"/>
            <a:ext cx="2032000" cy="261610"/>
          </a:xfrm>
          <a:prstGeom prst="rect">
            <a:avLst/>
          </a:prstGeom>
          <a:noFill/>
        </p:spPr>
        <p:txBody>
          <a:bodyPr vert="horz" wrap="square" lIns="0" tIns="0" rIns="0" bIns="0" rtlCol="0">
            <a:spAutoFit/>
          </a:bodyPr>
          <a:lstStyle/>
          <a:p>
            <a:r>
              <a:rPr lang="en-US" sz="1700" b="1">
                <a:solidFill>
                  <a:srgbClr val="0F172A"/>
                </a:solidFill>
                <a:latin typeface="Aptos" panose="020B0004020202020204" pitchFamily="34" charset="0"/>
              </a:rPr>
              <a:t>Review conflict</a:t>
            </a:r>
          </a:p>
        </p:txBody>
      </p:sp>
      <p:sp>
        <p:nvSpPr>
          <p:cNvPr id="23" name="TextBox 22">
            <a:extLst>
              <a:ext uri="{FF2B5EF4-FFF2-40B4-BE49-F238E27FC236}">
                <a16:creationId xmlns:a16="http://schemas.microsoft.com/office/drawing/2014/main" id="{203A12CA-C759-4F0F-3C6C-2D5807331D26}"/>
              </a:ext>
            </a:extLst>
          </p:cNvPr>
          <p:cNvSpPr txBox="1"/>
          <p:nvPr/>
        </p:nvSpPr>
        <p:spPr>
          <a:xfrm>
            <a:off x="9093200" y="3048000"/>
            <a:ext cx="2235200" cy="646331"/>
          </a:xfrm>
          <a:prstGeom prst="rect">
            <a:avLst/>
          </a:prstGeom>
          <a:noFill/>
        </p:spPr>
        <p:txBody>
          <a:bodyPr vert="horz" wrap="square" lIns="0" tIns="0" rIns="0" bIns="0" rtlCol="0">
            <a:spAutoFit/>
          </a:bodyPr>
          <a:lstStyle/>
          <a:p>
            <a:r>
              <a:rPr lang="en-GB" sz="1400">
                <a:solidFill>
                  <a:srgbClr val="475569"/>
                </a:solidFill>
                <a:latin typeface="Aptos" panose="020B0004020202020204" pitchFamily="34" charset="0"/>
              </a:rPr>
              <a:t>A stale version never silently overwrites newer clinical information.</a:t>
            </a:r>
            <a:endParaRPr lang="en-US" sz="1400">
              <a:solidFill>
                <a:srgbClr val="475569"/>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1C75F107-39E5-88E4-5476-145584780369}"/>
              </a:ext>
            </a:extLst>
          </p:cNvPr>
          <p:cNvSpPr/>
          <p:nvPr/>
        </p:nvSpPr>
        <p:spPr>
          <a:xfrm>
            <a:off x="1066800" y="4851400"/>
            <a:ext cx="10058400" cy="11684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11406E1-8CB5-75AB-3FF2-B7B5E36AFDC0}"/>
              </a:ext>
            </a:extLst>
          </p:cNvPr>
          <p:cNvSpPr txBox="1"/>
          <p:nvPr/>
        </p:nvSpPr>
        <p:spPr>
          <a:xfrm>
            <a:off x="1422400" y="5092700"/>
            <a:ext cx="4191000" cy="261610"/>
          </a:xfrm>
          <a:prstGeom prst="rect">
            <a:avLst/>
          </a:prstGeom>
          <a:noFill/>
        </p:spPr>
        <p:txBody>
          <a:bodyPr vert="horz" wrap="square" lIns="0" tIns="0" rIns="0" bIns="0" rtlCol="0">
            <a:spAutoFit/>
          </a:bodyPr>
          <a:lstStyle/>
          <a:p>
            <a:r>
              <a:rPr lang="en-US" sz="1700" b="1">
                <a:solidFill>
                  <a:srgbClr val="B91C1C"/>
                </a:solidFill>
                <a:latin typeface="Aptos" panose="020B0004020202020204" pitchFamily="34" charset="0"/>
              </a:rPr>
              <a:t>Existing duplicates remain clinical records</a:t>
            </a:r>
          </a:p>
        </p:txBody>
      </p:sp>
      <p:sp>
        <p:nvSpPr>
          <p:cNvPr id="26" name="TextBox 25">
            <a:extLst>
              <a:ext uri="{FF2B5EF4-FFF2-40B4-BE49-F238E27FC236}">
                <a16:creationId xmlns:a16="http://schemas.microsoft.com/office/drawing/2014/main" id="{1ECC5863-7EE2-8E6D-870B-DFCB9A54FF99}"/>
              </a:ext>
            </a:extLst>
          </p:cNvPr>
          <p:cNvSpPr txBox="1"/>
          <p:nvPr/>
        </p:nvSpPr>
        <p:spPr>
          <a:xfrm>
            <a:off x="1422400" y="5499100"/>
            <a:ext cx="9017000" cy="430887"/>
          </a:xfrm>
          <a:prstGeom prst="rect">
            <a:avLst/>
          </a:prstGeom>
          <a:noFill/>
        </p:spPr>
        <p:txBody>
          <a:bodyPr vert="horz" wrap="square" lIns="0" tIns="0" rIns="0" bIns="0" rtlCol="0">
            <a:spAutoFit/>
          </a:bodyPr>
          <a:lstStyle/>
          <a:p>
            <a:r>
              <a:rPr lang="en-GB" sz="1400" dirty="0">
                <a:solidFill>
                  <a:srgbClr val="0F172A"/>
                </a:solidFill>
                <a:latin typeface="Aptos" panose="020B0004020202020204" pitchFamily="34" charset="0"/>
              </a:rPr>
              <a:t>A data clerk reviews candidates. Confirmed identities are linked or merged with original identifiers and an audit trail preserved.</a:t>
            </a:r>
            <a:endParaRPr lang="en-US" sz="1400" dirty="0">
              <a:solidFill>
                <a:srgbClr val="0F172A"/>
              </a:solidFill>
              <a:latin typeface="Aptos" panose="020B0004020202020204" pitchFamily="34" charset="0"/>
            </a:endParaRPr>
          </a:p>
        </p:txBody>
      </p:sp>
    </p:spTree>
    <p:extLst>
      <p:ext uri="{BB962C8B-B14F-4D97-AF65-F5344CB8AC3E}">
        <p14:creationId xmlns:p14="http://schemas.microsoft.com/office/powerpoint/2010/main" val="4041521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5D587A-3E67-9A1A-0EE0-B86CBED8C37A}"/>
              </a:ext>
            </a:extLst>
          </p:cNvPr>
          <p:cNvSpPr txBox="1"/>
          <p:nvPr/>
        </p:nvSpPr>
        <p:spPr>
          <a:xfrm>
            <a:off x="736600" y="533400"/>
            <a:ext cx="10414000" cy="446276"/>
          </a:xfrm>
          <a:prstGeom prst="rect">
            <a:avLst/>
          </a:prstGeom>
          <a:noFill/>
        </p:spPr>
        <p:txBody>
          <a:bodyPr vert="horz" wrap="square" lIns="0" tIns="0" rIns="0" bIns="0" rtlCol="0">
            <a:spAutoFit/>
          </a:bodyPr>
          <a:lstStyle/>
          <a:p>
            <a:r>
              <a:rPr lang="en-GB" sz="2900" b="1" dirty="0">
                <a:solidFill>
                  <a:srgbClr val="FFFFFF"/>
                </a:solidFill>
                <a:latin typeface="Aptos" panose="020B0004020202020204" pitchFamily="34" charset="0"/>
              </a:rPr>
              <a:t>Evidence, limitations and next iterations</a:t>
            </a:r>
            <a:endParaRPr lang="en-US" sz="2900" b="1" dirty="0">
              <a:solidFill>
                <a:srgbClr val="FFFFFF"/>
              </a:solidFill>
              <a:latin typeface="Aptos" panose="020B0004020202020204" pitchFamily="34" charset="0"/>
            </a:endParaRPr>
          </a:p>
        </p:txBody>
      </p:sp>
      <p:sp>
        <p:nvSpPr>
          <p:cNvPr id="3" name="TextBox 2">
            <a:extLst>
              <a:ext uri="{FF2B5EF4-FFF2-40B4-BE49-F238E27FC236}">
                <a16:creationId xmlns:a16="http://schemas.microsoft.com/office/drawing/2014/main" id="{D567B0AB-CD2F-91A8-B581-1B52B6AB67AB}"/>
              </a:ext>
            </a:extLst>
          </p:cNvPr>
          <p:cNvSpPr txBox="1"/>
          <p:nvPr/>
        </p:nvSpPr>
        <p:spPr>
          <a:xfrm>
            <a:off x="787400" y="1625600"/>
            <a:ext cx="2260600" cy="415498"/>
          </a:xfrm>
          <a:prstGeom prst="rect">
            <a:avLst/>
          </a:prstGeom>
          <a:noFill/>
        </p:spPr>
        <p:txBody>
          <a:bodyPr vert="horz" wrap="square" lIns="0" tIns="0" rIns="0" bIns="0" rtlCol="0">
            <a:spAutoFit/>
          </a:bodyPr>
          <a:lstStyle/>
          <a:p>
            <a:pPr algn="ctr"/>
            <a:r>
              <a:rPr lang="en-US" sz="2700" b="1">
                <a:solidFill>
                  <a:srgbClr val="FFFFFF"/>
                </a:solidFill>
                <a:latin typeface="Aptos" panose="020B0004020202020204" pitchFamily="34" charset="0"/>
              </a:rPr>
              <a:t>100,000</a:t>
            </a:r>
          </a:p>
        </p:txBody>
      </p:sp>
      <p:sp>
        <p:nvSpPr>
          <p:cNvPr id="4" name="TextBox 3">
            <a:extLst>
              <a:ext uri="{FF2B5EF4-FFF2-40B4-BE49-F238E27FC236}">
                <a16:creationId xmlns:a16="http://schemas.microsoft.com/office/drawing/2014/main" id="{D5FEC7B3-493E-00A1-2E4E-405758DF7D23}"/>
              </a:ext>
            </a:extLst>
          </p:cNvPr>
          <p:cNvSpPr txBox="1"/>
          <p:nvPr/>
        </p:nvSpPr>
        <p:spPr>
          <a:xfrm>
            <a:off x="787400" y="2298700"/>
            <a:ext cx="2260600" cy="184666"/>
          </a:xfrm>
          <a:prstGeom prst="rect">
            <a:avLst/>
          </a:prstGeom>
          <a:noFill/>
        </p:spPr>
        <p:txBody>
          <a:bodyPr vert="horz" wrap="square" lIns="0" tIns="0" rIns="0" bIns="0" rtlCol="0">
            <a:spAutoFit/>
          </a:bodyPr>
          <a:lstStyle/>
          <a:p>
            <a:pPr algn="ctr"/>
            <a:r>
              <a:rPr lang="en-US" sz="1200">
                <a:solidFill>
                  <a:srgbClr val="B8C8D9"/>
                </a:solidFill>
                <a:latin typeface="Aptos" panose="020B0004020202020204" pitchFamily="34" charset="0"/>
              </a:rPr>
              <a:t>patients seeded</a:t>
            </a:r>
          </a:p>
        </p:txBody>
      </p:sp>
      <p:sp>
        <p:nvSpPr>
          <p:cNvPr id="5" name="TextBox 4">
            <a:extLst>
              <a:ext uri="{FF2B5EF4-FFF2-40B4-BE49-F238E27FC236}">
                <a16:creationId xmlns:a16="http://schemas.microsoft.com/office/drawing/2014/main" id="{922AAC4C-B35F-CC64-8A45-73D26E5F0B99}"/>
              </a:ext>
            </a:extLst>
          </p:cNvPr>
          <p:cNvSpPr txBox="1"/>
          <p:nvPr/>
        </p:nvSpPr>
        <p:spPr>
          <a:xfrm>
            <a:off x="3505200" y="1625600"/>
            <a:ext cx="2260600" cy="415498"/>
          </a:xfrm>
          <a:prstGeom prst="rect">
            <a:avLst/>
          </a:prstGeom>
          <a:noFill/>
        </p:spPr>
        <p:txBody>
          <a:bodyPr vert="horz" wrap="square" lIns="0" tIns="0" rIns="0" bIns="0" rtlCol="0">
            <a:spAutoFit/>
          </a:bodyPr>
          <a:lstStyle/>
          <a:p>
            <a:pPr algn="ctr"/>
            <a:r>
              <a:rPr lang="en-US" sz="2700" b="1">
                <a:solidFill>
                  <a:srgbClr val="FFFFFF"/>
                </a:solidFill>
                <a:latin typeface="Aptos" panose="020B0004020202020204" pitchFamily="34" charset="0"/>
              </a:rPr>
              <a:t>400,000</a:t>
            </a:r>
          </a:p>
        </p:txBody>
      </p:sp>
      <p:sp>
        <p:nvSpPr>
          <p:cNvPr id="6" name="TextBox 5">
            <a:extLst>
              <a:ext uri="{FF2B5EF4-FFF2-40B4-BE49-F238E27FC236}">
                <a16:creationId xmlns:a16="http://schemas.microsoft.com/office/drawing/2014/main" id="{BDBA6326-731D-BE79-DF2F-BCFB51702C1B}"/>
              </a:ext>
            </a:extLst>
          </p:cNvPr>
          <p:cNvSpPr txBox="1"/>
          <p:nvPr/>
        </p:nvSpPr>
        <p:spPr>
          <a:xfrm>
            <a:off x="3505200" y="2298700"/>
            <a:ext cx="2260600" cy="184666"/>
          </a:xfrm>
          <a:prstGeom prst="rect">
            <a:avLst/>
          </a:prstGeom>
          <a:noFill/>
        </p:spPr>
        <p:txBody>
          <a:bodyPr vert="horz" wrap="square" lIns="0" tIns="0" rIns="0" bIns="0" rtlCol="0">
            <a:spAutoFit/>
          </a:bodyPr>
          <a:lstStyle/>
          <a:p>
            <a:pPr algn="ctr"/>
            <a:r>
              <a:rPr lang="en-US" sz="1200">
                <a:solidFill>
                  <a:srgbClr val="B8C8D9"/>
                </a:solidFill>
                <a:latin typeface="Aptos" panose="020B0004020202020204" pitchFamily="34" charset="0"/>
              </a:rPr>
              <a:t>visits seeded</a:t>
            </a:r>
          </a:p>
        </p:txBody>
      </p:sp>
      <p:sp>
        <p:nvSpPr>
          <p:cNvPr id="7" name="TextBox 6">
            <a:extLst>
              <a:ext uri="{FF2B5EF4-FFF2-40B4-BE49-F238E27FC236}">
                <a16:creationId xmlns:a16="http://schemas.microsoft.com/office/drawing/2014/main" id="{2EC5738D-36C5-C330-E658-1E5696C51C93}"/>
              </a:ext>
            </a:extLst>
          </p:cNvPr>
          <p:cNvSpPr txBox="1"/>
          <p:nvPr/>
        </p:nvSpPr>
        <p:spPr>
          <a:xfrm>
            <a:off x="6223000" y="1625600"/>
            <a:ext cx="2260600" cy="415498"/>
          </a:xfrm>
          <a:prstGeom prst="rect">
            <a:avLst/>
          </a:prstGeom>
          <a:noFill/>
        </p:spPr>
        <p:txBody>
          <a:bodyPr vert="horz" wrap="square" lIns="0" tIns="0" rIns="0" bIns="0" rtlCol="0">
            <a:spAutoFit/>
          </a:bodyPr>
          <a:lstStyle/>
          <a:p>
            <a:pPr algn="ctr"/>
            <a:r>
              <a:rPr lang="en-US" sz="2700" b="1">
                <a:solidFill>
                  <a:srgbClr val="FFFFFF"/>
                </a:solidFill>
                <a:latin typeface="Aptos" panose="020B0004020202020204" pitchFamily="34" charset="0"/>
              </a:rPr>
              <a:t>35 ms</a:t>
            </a:r>
          </a:p>
        </p:txBody>
      </p:sp>
      <p:sp>
        <p:nvSpPr>
          <p:cNvPr id="8" name="TextBox 7">
            <a:extLst>
              <a:ext uri="{FF2B5EF4-FFF2-40B4-BE49-F238E27FC236}">
                <a16:creationId xmlns:a16="http://schemas.microsoft.com/office/drawing/2014/main" id="{F33D04E0-528E-2A93-5188-05F833A1A729}"/>
              </a:ext>
            </a:extLst>
          </p:cNvPr>
          <p:cNvSpPr txBox="1"/>
          <p:nvPr/>
        </p:nvSpPr>
        <p:spPr>
          <a:xfrm>
            <a:off x="6223000" y="2298700"/>
            <a:ext cx="2260600" cy="184666"/>
          </a:xfrm>
          <a:prstGeom prst="rect">
            <a:avLst/>
          </a:prstGeom>
          <a:noFill/>
        </p:spPr>
        <p:txBody>
          <a:bodyPr vert="horz" wrap="square" lIns="0" tIns="0" rIns="0" bIns="0" rtlCol="0">
            <a:spAutoFit/>
          </a:bodyPr>
          <a:lstStyle/>
          <a:p>
            <a:pPr algn="ctr"/>
            <a:r>
              <a:rPr lang="en-US" sz="1200">
                <a:solidFill>
                  <a:srgbClr val="B8C8D9"/>
                </a:solidFill>
                <a:latin typeface="Aptos" panose="020B0004020202020204" pitchFamily="34" charset="0"/>
              </a:rPr>
              <a:t>median warm query</a:t>
            </a:r>
          </a:p>
        </p:txBody>
      </p:sp>
      <p:sp>
        <p:nvSpPr>
          <p:cNvPr id="9" name="TextBox 8">
            <a:extLst>
              <a:ext uri="{FF2B5EF4-FFF2-40B4-BE49-F238E27FC236}">
                <a16:creationId xmlns:a16="http://schemas.microsoft.com/office/drawing/2014/main" id="{6763753C-841C-57C6-834E-863B80A494F0}"/>
              </a:ext>
            </a:extLst>
          </p:cNvPr>
          <p:cNvSpPr txBox="1"/>
          <p:nvPr/>
        </p:nvSpPr>
        <p:spPr>
          <a:xfrm>
            <a:off x="8940800" y="1625600"/>
            <a:ext cx="2260600" cy="415498"/>
          </a:xfrm>
          <a:prstGeom prst="rect">
            <a:avLst/>
          </a:prstGeom>
          <a:noFill/>
        </p:spPr>
        <p:txBody>
          <a:bodyPr vert="horz" wrap="square" lIns="0" tIns="0" rIns="0" bIns="0" rtlCol="0">
            <a:spAutoFit/>
          </a:bodyPr>
          <a:lstStyle/>
          <a:p>
            <a:pPr algn="ctr"/>
            <a:r>
              <a:rPr lang="en-US" sz="2700" b="1">
                <a:solidFill>
                  <a:srgbClr val="FFFFFF"/>
                </a:solidFill>
                <a:latin typeface="Aptos" panose="020B0004020202020204" pitchFamily="34" charset="0"/>
              </a:rPr>
              <a:t>15 / 15</a:t>
            </a:r>
          </a:p>
        </p:txBody>
      </p:sp>
      <p:sp>
        <p:nvSpPr>
          <p:cNvPr id="10" name="TextBox 9">
            <a:extLst>
              <a:ext uri="{FF2B5EF4-FFF2-40B4-BE49-F238E27FC236}">
                <a16:creationId xmlns:a16="http://schemas.microsoft.com/office/drawing/2014/main" id="{8D5D89B7-F17B-3401-AFB0-35516EFA40C8}"/>
              </a:ext>
            </a:extLst>
          </p:cNvPr>
          <p:cNvSpPr txBox="1"/>
          <p:nvPr/>
        </p:nvSpPr>
        <p:spPr>
          <a:xfrm>
            <a:off x="8940800" y="2298700"/>
            <a:ext cx="2260600" cy="184666"/>
          </a:xfrm>
          <a:prstGeom prst="rect">
            <a:avLst/>
          </a:prstGeom>
          <a:noFill/>
        </p:spPr>
        <p:txBody>
          <a:bodyPr vert="horz" wrap="square" lIns="0" tIns="0" rIns="0" bIns="0" rtlCol="0">
            <a:spAutoFit/>
          </a:bodyPr>
          <a:lstStyle/>
          <a:p>
            <a:pPr algn="ctr"/>
            <a:r>
              <a:rPr lang="en-US" sz="1200">
                <a:solidFill>
                  <a:srgbClr val="B8C8D9"/>
                </a:solidFill>
                <a:latin typeface="Aptos" panose="020B0004020202020204" pitchFamily="34" charset="0"/>
              </a:rPr>
              <a:t>automated tests passed</a:t>
            </a:r>
          </a:p>
        </p:txBody>
      </p:sp>
      <p:cxnSp>
        <p:nvCxnSpPr>
          <p:cNvPr id="11" name="Straight Arrow Connector 10">
            <a:extLst>
              <a:ext uri="{FF2B5EF4-FFF2-40B4-BE49-F238E27FC236}">
                <a16:creationId xmlns:a16="http://schemas.microsoft.com/office/drawing/2014/main" id="{263FA7B6-E1F0-1DE9-8A6E-DE0E9D0056D7}"/>
              </a:ext>
            </a:extLst>
          </p:cNvPr>
          <p:cNvCxnSpPr/>
          <p:nvPr/>
        </p:nvCxnSpPr>
        <p:spPr>
          <a:xfrm>
            <a:off x="736600" y="3022600"/>
            <a:ext cx="10718800" cy="0"/>
          </a:xfrm>
          <a:prstGeom prst="straightConnector1">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F707AD8-6018-7151-E19D-3F051536914E}"/>
              </a:ext>
            </a:extLst>
          </p:cNvPr>
          <p:cNvSpPr txBox="1"/>
          <p:nvPr/>
        </p:nvSpPr>
        <p:spPr>
          <a:xfrm>
            <a:off x="787400" y="3581400"/>
            <a:ext cx="3810000" cy="276999"/>
          </a:xfrm>
          <a:prstGeom prst="rect">
            <a:avLst/>
          </a:prstGeom>
          <a:noFill/>
        </p:spPr>
        <p:txBody>
          <a:bodyPr vert="horz" wrap="square" lIns="0" tIns="0" rIns="0" bIns="0" rtlCol="0">
            <a:spAutoFit/>
          </a:bodyPr>
          <a:lstStyle/>
          <a:p>
            <a:r>
              <a:rPr lang="en-US" b="1">
                <a:solidFill>
                  <a:srgbClr val="FFFFFF"/>
                </a:solidFill>
                <a:latin typeface="Aptos" panose="020B0004020202020204" pitchFamily="34" charset="0"/>
              </a:rPr>
              <a:t>Current limitations</a:t>
            </a:r>
          </a:p>
        </p:txBody>
      </p:sp>
      <p:sp>
        <p:nvSpPr>
          <p:cNvPr id="13" name="TextBox 12">
            <a:extLst>
              <a:ext uri="{FF2B5EF4-FFF2-40B4-BE49-F238E27FC236}">
                <a16:creationId xmlns:a16="http://schemas.microsoft.com/office/drawing/2014/main" id="{C5DBECED-4FB6-60AA-2F3A-CC761EFDD92E}"/>
              </a:ext>
            </a:extLst>
          </p:cNvPr>
          <p:cNvSpPr txBox="1"/>
          <p:nvPr/>
        </p:nvSpPr>
        <p:spPr>
          <a:xfrm>
            <a:off x="787400" y="4114800"/>
            <a:ext cx="4699000" cy="923330"/>
          </a:xfrm>
          <a:prstGeom prst="rect">
            <a:avLst/>
          </a:prstGeom>
          <a:noFill/>
        </p:spPr>
        <p:txBody>
          <a:bodyPr vert="horz" wrap="square" lIns="0" tIns="0" rIns="0" bIns="0" rtlCol="0">
            <a:spAutoFit/>
          </a:bodyPr>
          <a:lstStyle/>
          <a:p>
            <a:pPr>
              <a:spcAft>
                <a:spcPts val="900"/>
              </a:spcAft>
            </a:pPr>
            <a:r>
              <a:rPr lang="en-GB" sz="1500">
                <a:solidFill>
                  <a:srgbClr val="B8C8D9"/>
                </a:solidFill>
                <a:latin typeface="Aptos" panose="020B0004020202020204" pitchFamily="34" charset="0"/>
              </a:rPr>
              <a:t>- Static assessment tokens, not production identity</a:t>
            </a:r>
          </a:p>
          <a:p>
            <a:pPr>
              <a:spcAft>
                <a:spcPts val="900"/>
              </a:spcAft>
            </a:pPr>
            <a:r>
              <a:rPr lang="en-GB" sz="1500">
                <a:solidFill>
                  <a:srgbClr val="B8C8D9"/>
                </a:solidFill>
                <a:latin typeface="Aptos" panose="020B0004020202020204" pitchFamily="34" charset="0"/>
              </a:rPr>
              <a:t>- Offline sync and partner integrations are designs only</a:t>
            </a:r>
          </a:p>
          <a:p>
            <a:pPr>
              <a:spcAft>
                <a:spcPts val="900"/>
              </a:spcAft>
            </a:pPr>
            <a:r>
              <a:rPr lang="en-GB" sz="1500">
                <a:solidFill>
                  <a:srgbClr val="B8C8D9"/>
                </a:solidFill>
                <a:latin typeface="Aptos" panose="020B0004020202020204" pitchFamily="34" charset="0"/>
              </a:rPr>
              <a:t>- Contacted POST left as a documented stretch goal</a:t>
            </a:r>
            <a:endParaRPr lang="en-US" sz="1500">
              <a:solidFill>
                <a:srgbClr val="B8C8D9"/>
              </a:solidFill>
              <a:latin typeface="Aptos" panose="020B0004020202020204" pitchFamily="34" charset="0"/>
            </a:endParaRPr>
          </a:p>
        </p:txBody>
      </p:sp>
      <p:sp>
        <p:nvSpPr>
          <p:cNvPr id="14" name="TextBox 13">
            <a:extLst>
              <a:ext uri="{FF2B5EF4-FFF2-40B4-BE49-F238E27FC236}">
                <a16:creationId xmlns:a16="http://schemas.microsoft.com/office/drawing/2014/main" id="{1C8E73C6-3313-64A9-7019-3E27639E2ACE}"/>
              </a:ext>
            </a:extLst>
          </p:cNvPr>
          <p:cNvSpPr txBox="1"/>
          <p:nvPr/>
        </p:nvSpPr>
        <p:spPr>
          <a:xfrm>
            <a:off x="6451600" y="3581400"/>
            <a:ext cx="3810000" cy="276999"/>
          </a:xfrm>
          <a:prstGeom prst="rect">
            <a:avLst/>
          </a:prstGeom>
          <a:noFill/>
        </p:spPr>
        <p:txBody>
          <a:bodyPr vert="horz" wrap="square" lIns="0" tIns="0" rIns="0" bIns="0" rtlCol="0">
            <a:spAutoFit/>
          </a:bodyPr>
          <a:lstStyle/>
          <a:p>
            <a:r>
              <a:rPr lang="en-US" b="1" dirty="0">
                <a:solidFill>
                  <a:srgbClr val="FFFFFF"/>
                </a:solidFill>
                <a:latin typeface="Aptos" panose="020B0004020202020204" pitchFamily="34" charset="0"/>
              </a:rPr>
              <a:t>With future version</a:t>
            </a:r>
          </a:p>
        </p:txBody>
      </p:sp>
      <p:sp>
        <p:nvSpPr>
          <p:cNvPr id="15" name="TextBox 14">
            <a:extLst>
              <a:ext uri="{FF2B5EF4-FFF2-40B4-BE49-F238E27FC236}">
                <a16:creationId xmlns:a16="http://schemas.microsoft.com/office/drawing/2014/main" id="{1BF2828D-B993-D423-C3E5-222CED5B7775}"/>
              </a:ext>
            </a:extLst>
          </p:cNvPr>
          <p:cNvSpPr txBox="1"/>
          <p:nvPr/>
        </p:nvSpPr>
        <p:spPr>
          <a:xfrm>
            <a:off x="6451600" y="4114800"/>
            <a:ext cx="4953000" cy="807913"/>
          </a:xfrm>
          <a:prstGeom prst="rect">
            <a:avLst/>
          </a:prstGeom>
          <a:noFill/>
        </p:spPr>
        <p:txBody>
          <a:bodyPr vert="horz" wrap="square" lIns="0" tIns="0" rIns="0" bIns="0" rtlCol="0">
            <a:spAutoFit/>
          </a:bodyPr>
          <a:lstStyle/>
          <a:p>
            <a:pPr>
              <a:spcAft>
                <a:spcPts val="900"/>
              </a:spcAft>
            </a:pPr>
            <a:r>
              <a:rPr lang="en-GB" sz="1500" dirty="0">
                <a:solidFill>
                  <a:srgbClr val="B8C8D9"/>
                </a:solidFill>
                <a:latin typeface="Aptos" panose="020B0004020202020204" pitchFamily="34" charset="0"/>
              </a:rPr>
              <a:t>- Implement authorised, idempotent contact recording</a:t>
            </a:r>
          </a:p>
          <a:p>
            <a:pPr>
              <a:spcAft>
                <a:spcPts val="900"/>
              </a:spcAft>
            </a:pPr>
            <a:r>
              <a:rPr lang="en-GB" sz="1500" dirty="0">
                <a:solidFill>
                  <a:srgbClr val="B8C8D9"/>
                </a:solidFill>
                <a:latin typeface="Aptos" panose="020B0004020202020204" pitchFamily="34" charset="0"/>
              </a:rPr>
              <a:t>- Add production-engine integration and concurrent load tests</a:t>
            </a:r>
          </a:p>
        </p:txBody>
      </p:sp>
    </p:spTree>
    <p:extLst>
      <p:ext uri="{BB962C8B-B14F-4D97-AF65-F5344CB8AC3E}">
        <p14:creationId xmlns:p14="http://schemas.microsoft.com/office/powerpoint/2010/main" val="2664732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DE6DA70-4600-CAA8-5F48-7D1EFABDECC4}"/>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5200" kern="1200">
                <a:solidFill>
                  <a:srgbClr val="FFFFFF"/>
                </a:solidFill>
                <a:latin typeface="+mj-lt"/>
                <a:ea typeface="+mj-ea"/>
                <a:cs typeface="+mj-cs"/>
              </a:rPr>
              <a:t>The End</a:t>
            </a:r>
            <a:br>
              <a:rPr lang="en-US" sz="5200" kern="1200">
                <a:solidFill>
                  <a:srgbClr val="FFFFFF"/>
                </a:solidFill>
                <a:latin typeface="+mj-lt"/>
                <a:ea typeface="+mj-ea"/>
                <a:cs typeface="+mj-cs"/>
              </a:rPr>
            </a:br>
            <a:br>
              <a:rPr lang="en-US" sz="5200" kern="1200">
                <a:solidFill>
                  <a:srgbClr val="FFFFFF"/>
                </a:solidFill>
                <a:latin typeface="+mj-lt"/>
                <a:ea typeface="+mj-ea"/>
                <a:cs typeface="+mj-cs"/>
              </a:rPr>
            </a:br>
            <a:r>
              <a:rPr lang="en-US" sz="5200" kern="1200">
                <a:solidFill>
                  <a:srgbClr val="FFFFFF"/>
                </a:solidFill>
                <a:latin typeface="+mj-lt"/>
                <a:ea typeface="+mj-ea"/>
                <a:cs typeface="+mj-cs"/>
              </a:rPr>
              <a:t>Thank you.</a:t>
            </a:r>
          </a:p>
        </p:txBody>
      </p:sp>
      <p:sp>
        <p:nvSpPr>
          <p:cNvPr id="9"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
        <p:nvSpPr>
          <p:cNvPr id="20"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
        <p:nvSpPr>
          <p:cNvPr id="2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cxnSp>
        <p:nvCxnSpPr>
          <p:cNvPr id="21" name="Straight Connector 2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7846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1537</Words>
  <Application>Microsoft Office PowerPoint</Application>
  <PresentationFormat>Widescreen</PresentationFormat>
  <Paragraphs>134</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Ithamar Nyangu</dc:creator>
  <cp:lastModifiedBy>Ithamar Nyangu</cp:lastModifiedBy>
  <cp:revision>3</cp:revision>
  <dcterms:created xsi:type="dcterms:W3CDTF">2026-10-07T17:13:54Z</dcterms:created>
  <dcterms:modified xsi:type="dcterms:W3CDTF">2026-10-07T18:22:19Z</dcterms:modified>
</cp:coreProperties>
</file>